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" charset="1" panose="00000000000000000000"/>
      <p:regular r:id="rId14"/>
    </p:embeddedFont>
    <p:embeddedFont>
      <p:font typeface="Cy Grotesk V3 Key Semi-Bold" charset="1" panose="00000700000000000000"/>
      <p:regular r:id="rId15"/>
    </p:embeddedFont>
    <p:embeddedFont>
      <p:font typeface="Open Sans Medium" charset="1" panose="00000000000000000000"/>
      <p:regular r:id="rId16"/>
    </p:embeddedFont>
    <p:embeddedFont>
      <p:font typeface="Open Sans Bold" charset="1" panose="00000000000000000000"/>
      <p:regular r:id="rId17"/>
    </p:embeddedFont>
    <p:embeddedFont>
      <p:font typeface="Open Sans Semi-Bold" charset="1" panose="00000000000000000000"/>
      <p:regular r:id="rId18"/>
    </p:embeddedFont>
    <p:embeddedFont>
      <p:font typeface="Cy Grotesk V3 Key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81404" t="-79025" r="-2048" b="-382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9397" y="879690"/>
            <a:ext cx="3029205" cy="55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sz="161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TEST SUBMISSION BADARUZZAMAN NAFIZ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5728" y="2031340"/>
            <a:ext cx="12207340" cy="6693056"/>
            <a:chOff x="0" y="0"/>
            <a:chExt cx="16276453" cy="89240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5233467" y="8549721"/>
              <a:ext cx="487589" cy="313830"/>
            </a:xfrm>
            <a:custGeom>
              <a:avLst/>
              <a:gdLst/>
              <a:ahLst/>
              <a:cxnLst/>
              <a:rect r="r" b="b" t="t" l="l"/>
              <a:pathLst>
                <a:path h="313830" w="487589">
                  <a:moveTo>
                    <a:pt x="0" y="0"/>
                  </a:moveTo>
                  <a:lnTo>
                    <a:pt x="487589" y="0"/>
                  </a:lnTo>
                  <a:lnTo>
                    <a:pt x="487589" y="313830"/>
                  </a:lnTo>
                  <a:lnTo>
                    <a:pt x="0" y="313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66700"/>
              <a:ext cx="16276453" cy="52433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88"/>
                </a:lnSpc>
              </a:pPr>
              <a:r>
                <a:rPr lang="en-US" sz="10626" spc="-425" b="true">
                  <a:solidFill>
                    <a:srgbClr val="FFFFFF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Greenhouse IoT</a:t>
              </a:r>
            </a:p>
            <a:p>
              <a:pPr algn="l">
                <a:lnSpc>
                  <a:spcPts val="9988"/>
                </a:lnSpc>
              </a:pPr>
              <a:r>
                <a:rPr lang="en-US" sz="10626" spc="-425" b="true">
                  <a:solidFill>
                    <a:srgbClr val="FFFFFF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Backend</a:t>
              </a:r>
            </a:p>
            <a:p>
              <a:pPr algn="l">
                <a:lnSpc>
                  <a:spcPts val="9988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228633"/>
              <a:ext cx="1777102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FastAPI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399029"/>
              <a:ext cx="9588434" cy="805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9"/>
                </a:lnSpc>
                <a:spcBef>
                  <a:spcPct val="0"/>
                </a:spcBef>
              </a:pPr>
              <a:r>
                <a:rPr lang="en-US" sz="1814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Reliable sensor ingestion and acknowledged device control through one production-oriented backend.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527701" y="7228633"/>
              <a:ext cx="2038083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Mosquitto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465850" y="7228633"/>
              <a:ext cx="2373103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6235549"/>
              <a:ext cx="13993412" cy="0"/>
            </a:xfrm>
            <a:prstGeom prst="line">
              <a:avLst/>
            </a:prstGeom>
            <a:ln cap="flat" w="254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8537838"/>
              <a:ext cx="9588434" cy="386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9"/>
                </a:lnSpc>
                <a:spcBef>
                  <a:spcPct val="0"/>
                </a:spcBef>
              </a:pPr>
              <a:r>
                <a:rPr lang="en-US" sz="1814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Docker Compose + Pytest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0479" y="0"/>
            <a:ext cx="3513719" cy="10287000"/>
            <a:chOff x="0" y="0"/>
            <a:chExt cx="544367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367" cy="1593725"/>
            </a:xfrm>
            <a:custGeom>
              <a:avLst/>
              <a:gdLst/>
              <a:ahLst/>
              <a:cxnLst/>
              <a:rect r="r" b="b" t="t" l="l"/>
              <a:pathLst>
                <a:path h="1593725" w="544367">
                  <a:moveTo>
                    <a:pt x="0" y="0"/>
                  </a:moveTo>
                  <a:lnTo>
                    <a:pt x="544367" y="0"/>
                  </a:lnTo>
                  <a:lnTo>
                    <a:pt x="54436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6383" t="0" r="-963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97407" y="943043"/>
            <a:ext cx="12561893" cy="118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4800" spc="-19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Three behaviors define success</a:t>
            </a:r>
          </a:p>
          <a:p>
            <a:pPr algn="l">
              <a:lnSpc>
                <a:spcPts val="451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697407" y="1682681"/>
            <a:ext cx="10125879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</a:t>
            </a:r>
            <a:r>
              <a:rPr lang="en-US" b="true" sz="18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 scope stays deliberately small and reviewable.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5275842" y="2745315"/>
            <a:ext cx="6936111" cy="5196286"/>
            <a:chOff x="0" y="0"/>
            <a:chExt cx="9248148" cy="692838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715538" y="777086"/>
              <a:ext cx="7532610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Val</a:t>
              </a: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idate the payload, preserve recorded_at, and persist the reading in PostgreSQL.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715538" y="197600"/>
              <a:ext cx="4530645" cy="77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PO</a:t>
              </a: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ST /sensor-data</a:t>
              </a:r>
            </a:p>
            <a:p>
              <a:pPr algn="l">
                <a:lnSpc>
                  <a:spcPts val="2155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15538" y="3240276"/>
              <a:ext cx="7532610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Acc</a:t>
              </a: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ept device_id plus ON/OFF and publish a structured command through MQTT QoS 1.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715538" y="2660789"/>
              <a:ext cx="4530645" cy="77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PO</a:t>
              </a: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ST /device-control</a:t>
              </a:r>
            </a:p>
            <a:p>
              <a:pPr algn="l">
                <a:lnSpc>
                  <a:spcPts val="2155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715538" y="5703466"/>
              <a:ext cx="7532610" cy="1224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Prob</a:t>
              </a: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e the backend, SELECT 1 against PostgreSQL, and report the live MQTT connection state.</a:t>
              </a: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15538" y="5123979"/>
              <a:ext cx="4530645" cy="77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GE</a:t>
              </a: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T /status</a:t>
              </a:r>
            </a:p>
            <a:p>
              <a:pPr algn="l">
                <a:lnSpc>
                  <a:spcPts val="2155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0975"/>
              <a:ext cx="1249677" cy="1441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8000" spc="-320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628904"/>
              <a:ext cx="1249677" cy="1441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8000" spc="-320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076832"/>
              <a:ext cx="1249677" cy="1441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8000" spc="-320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3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4697407" y="2284661"/>
            <a:ext cx="1256189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6096086" y="8804207"/>
            <a:ext cx="9764535" cy="654050"/>
            <a:chOff x="0" y="0"/>
            <a:chExt cx="13019380" cy="8720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2122148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</a:t>
              </a:r>
              <a:r>
                <a:rPr lang="en-US" b="true" sz="1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eliverables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956268" y="-38100"/>
              <a:ext cx="10063112" cy="91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Source code · README · D</a:t>
              </a:r>
              <a:r>
                <a:rPr lang="en-US" sz="1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esign explanation · Presentation PDF</a:t>
              </a:r>
            </a:p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717813" cy="10287000"/>
            <a:chOff x="0" y="0"/>
            <a:chExt cx="229604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60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96049">
                  <a:moveTo>
                    <a:pt x="0" y="0"/>
                  </a:moveTo>
                  <a:lnTo>
                    <a:pt x="2296049" y="0"/>
                  </a:lnTo>
                  <a:lnTo>
                    <a:pt x="22960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96049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82136" y="-113991"/>
            <a:ext cx="8999949" cy="10400991"/>
          </a:xfrm>
          <a:custGeom>
            <a:avLst/>
            <a:gdLst/>
            <a:ahLst/>
            <a:cxnLst/>
            <a:rect r="r" b="b" t="t" l="l"/>
            <a:pathLst>
              <a:path h="10400991" w="8999949">
                <a:moveTo>
                  <a:pt x="0" y="0"/>
                </a:moveTo>
                <a:lnTo>
                  <a:pt x="8999949" y="0"/>
                </a:lnTo>
                <a:lnTo>
                  <a:pt x="8999949" y="10400991"/>
                </a:lnTo>
                <a:lnTo>
                  <a:pt x="0" y="10400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</a:blip>
            <a:stretch>
              <a:fillRect l="-13192" t="0" r="-60592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3486065" y="2724476"/>
            <a:ext cx="0" cy="12280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2093202" y="1618306"/>
            <a:ext cx="2785726" cy="1106171"/>
            <a:chOff x="0" y="0"/>
            <a:chExt cx="694507" cy="2757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4506" cy="275778"/>
            </a:xfrm>
            <a:custGeom>
              <a:avLst/>
              <a:gdLst/>
              <a:ahLst/>
              <a:cxnLst/>
              <a:rect r="r" b="b" t="t" l="l"/>
              <a:pathLst>
                <a:path h="275778" w="694506">
                  <a:moveTo>
                    <a:pt x="137889" y="0"/>
                  </a:moveTo>
                  <a:lnTo>
                    <a:pt x="556617" y="0"/>
                  </a:lnTo>
                  <a:cubicBezTo>
                    <a:pt x="632771" y="0"/>
                    <a:pt x="694506" y="61735"/>
                    <a:pt x="694506" y="137889"/>
                  </a:cubicBezTo>
                  <a:lnTo>
                    <a:pt x="694506" y="137889"/>
                  </a:lnTo>
                  <a:cubicBezTo>
                    <a:pt x="694506" y="214043"/>
                    <a:pt x="632771" y="275778"/>
                    <a:pt x="556617" y="275778"/>
                  </a:cubicBezTo>
                  <a:lnTo>
                    <a:pt x="137889" y="275778"/>
                  </a:lnTo>
                  <a:cubicBezTo>
                    <a:pt x="61735" y="275778"/>
                    <a:pt x="0" y="214043"/>
                    <a:pt x="0" y="137889"/>
                  </a:cubicBezTo>
                  <a:lnTo>
                    <a:pt x="0" y="137889"/>
                  </a:lnTo>
                  <a:cubicBezTo>
                    <a:pt x="0" y="61735"/>
                    <a:pt x="61735" y="0"/>
                    <a:pt x="13788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94507" cy="323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IOT / Clients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3202" y="3952561"/>
            <a:ext cx="2785726" cy="1152580"/>
            <a:chOff x="0" y="0"/>
            <a:chExt cx="694507" cy="2873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506" cy="287349"/>
            </a:xfrm>
            <a:custGeom>
              <a:avLst/>
              <a:gdLst/>
              <a:ahLst/>
              <a:cxnLst/>
              <a:rect r="r" b="b" t="t" l="l"/>
              <a:pathLst>
                <a:path h="287349" w="694506">
                  <a:moveTo>
                    <a:pt x="141736" y="0"/>
                  </a:moveTo>
                  <a:lnTo>
                    <a:pt x="552770" y="0"/>
                  </a:lnTo>
                  <a:cubicBezTo>
                    <a:pt x="631049" y="0"/>
                    <a:pt x="694506" y="63457"/>
                    <a:pt x="694506" y="141736"/>
                  </a:cubicBezTo>
                  <a:lnTo>
                    <a:pt x="694506" y="145613"/>
                  </a:lnTo>
                  <a:cubicBezTo>
                    <a:pt x="694506" y="183203"/>
                    <a:pt x="679574" y="219254"/>
                    <a:pt x="652993" y="245835"/>
                  </a:cubicBezTo>
                  <a:cubicBezTo>
                    <a:pt x="626412" y="272416"/>
                    <a:pt x="590361" y="287349"/>
                    <a:pt x="552770" y="287349"/>
                  </a:cubicBezTo>
                  <a:lnTo>
                    <a:pt x="141736" y="287349"/>
                  </a:lnTo>
                  <a:cubicBezTo>
                    <a:pt x="63457" y="287349"/>
                    <a:pt x="0" y="223891"/>
                    <a:pt x="0" y="145613"/>
                  </a:cubicBezTo>
                  <a:lnTo>
                    <a:pt x="0" y="141736"/>
                  </a:lnTo>
                  <a:cubicBezTo>
                    <a:pt x="0" y="63457"/>
                    <a:pt x="63457" y="0"/>
                    <a:pt x="1417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94507" cy="33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FastAPI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61884" y="5626382"/>
            <a:ext cx="2785726" cy="1152580"/>
            <a:chOff x="0" y="0"/>
            <a:chExt cx="694507" cy="2873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506" cy="287349"/>
            </a:xfrm>
            <a:custGeom>
              <a:avLst/>
              <a:gdLst/>
              <a:ahLst/>
              <a:cxnLst/>
              <a:rect r="r" b="b" t="t" l="l"/>
              <a:pathLst>
                <a:path h="287349" w="694506">
                  <a:moveTo>
                    <a:pt x="141736" y="0"/>
                  </a:moveTo>
                  <a:lnTo>
                    <a:pt x="552770" y="0"/>
                  </a:lnTo>
                  <a:cubicBezTo>
                    <a:pt x="631049" y="0"/>
                    <a:pt x="694506" y="63457"/>
                    <a:pt x="694506" y="141736"/>
                  </a:cubicBezTo>
                  <a:lnTo>
                    <a:pt x="694506" y="145613"/>
                  </a:lnTo>
                  <a:cubicBezTo>
                    <a:pt x="694506" y="183203"/>
                    <a:pt x="679574" y="219254"/>
                    <a:pt x="652993" y="245835"/>
                  </a:cubicBezTo>
                  <a:cubicBezTo>
                    <a:pt x="626412" y="272416"/>
                    <a:pt x="590361" y="287349"/>
                    <a:pt x="552770" y="287349"/>
                  </a:cubicBezTo>
                  <a:lnTo>
                    <a:pt x="141736" y="287349"/>
                  </a:lnTo>
                  <a:cubicBezTo>
                    <a:pt x="63457" y="287349"/>
                    <a:pt x="0" y="223891"/>
                    <a:pt x="0" y="145613"/>
                  </a:cubicBezTo>
                  <a:lnTo>
                    <a:pt x="0" y="141736"/>
                  </a:lnTo>
                  <a:cubicBezTo>
                    <a:pt x="0" y="63457"/>
                    <a:pt x="63457" y="0"/>
                    <a:pt x="1417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94507" cy="33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PostgreSQL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73574" y="5626382"/>
            <a:ext cx="2785726" cy="1152580"/>
            <a:chOff x="0" y="0"/>
            <a:chExt cx="694507" cy="2873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506" cy="287349"/>
            </a:xfrm>
            <a:custGeom>
              <a:avLst/>
              <a:gdLst/>
              <a:ahLst/>
              <a:cxnLst/>
              <a:rect r="r" b="b" t="t" l="l"/>
              <a:pathLst>
                <a:path h="287349" w="694506">
                  <a:moveTo>
                    <a:pt x="141736" y="0"/>
                  </a:moveTo>
                  <a:lnTo>
                    <a:pt x="552770" y="0"/>
                  </a:lnTo>
                  <a:cubicBezTo>
                    <a:pt x="631049" y="0"/>
                    <a:pt x="694506" y="63457"/>
                    <a:pt x="694506" y="141736"/>
                  </a:cubicBezTo>
                  <a:lnTo>
                    <a:pt x="694506" y="145613"/>
                  </a:lnTo>
                  <a:cubicBezTo>
                    <a:pt x="694506" y="183203"/>
                    <a:pt x="679574" y="219254"/>
                    <a:pt x="652993" y="245835"/>
                  </a:cubicBezTo>
                  <a:cubicBezTo>
                    <a:pt x="626412" y="272416"/>
                    <a:pt x="590361" y="287349"/>
                    <a:pt x="552770" y="287349"/>
                  </a:cubicBezTo>
                  <a:lnTo>
                    <a:pt x="141736" y="287349"/>
                  </a:lnTo>
                  <a:cubicBezTo>
                    <a:pt x="63457" y="287349"/>
                    <a:pt x="0" y="223891"/>
                    <a:pt x="0" y="145613"/>
                  </a:cubicBezTo>
                  <a:lnTo>
                    <a:pt x="0" y="141736"/>
                  </a:lnTo>
                  <a:cubicBezTo>
                    <a:pt x="0" y="63457"/>
                    <a:pt x="63457" y="0"/>
                    <a:pt x="1417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94507" cy="33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Mosquitto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11354747" y="5105141"/>
            <a:ext cx="2131318" cy="5212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3486065" y="5105141"/>
            <a:ext cx="2380372" cy="5212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4473574" y="7562524"/>
            <a:ext cx="2785726" cy="1106171"/>
            <a:chOff x="0" y="0"/>
            <a:chExt cx="694507" cy="2757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506" cy="275778"/>
            </a:xfrm>
            <a:custGeom>
              <a:avLst/>
              <a:gdLst/>
              <a:ahLst/>
              <a:cxnLst/>
              <a:rect r="r" b="b" t="t" l="l"/>
              <a:pathLst>
                <a:path h="275778" w="694506">
                  <a:moveTo>
                    <a:pt x="137889" y="0"/>
                  </a:moveTo>
                  <a:lnTo>
                    <a:pt x="556617" y="0"/>
                  </a:lnTo>
                  <a:cubicBezTo>
                    <a:pt x="632771" y="0"/>
                    <a:pt x="694506" y="61735"/>
                    <a:pt x="694506" y="137889"/>
                  </a:cubicBezTo>
                  <a:lnTo>
                    <a:pt x="694506" y="137889"/>
                  </a:lnTo>
                  <a:cubicBezTo>
                    <a:pt x="694506" y="214043"/>
                    <a:pt x="632771" y="275778"/>
                    <a:pt x="556617" y="275778"/>
                  </a:cubicBezTo>
                  <a:lnTo>
                    <a:pt x="137889" y="275778"/>
                  </a:lnTo>
                  <a:cubicBezTo>
                    <a:pt x="61735" y="275778"/>
                    <a:pt x="0" y="214043"/>
                    <a:pt x="0" y="137889"/>
                  </a:cubicBezTo>
                  <a:lnTo>
                    <a:pt x="0" y="137889"/>
                  </a:lnTo>
                  <a:cubicBezTo>
                    <a:pt x="0" y="61735"/>
                    <a:pt x="61735" y="0"/>
                    <a:pt x="13788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94507" cy="323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Devices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5866437" y="6778962"/>
            <a:ext cx="0" cy="7835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1153662" y="2219016"/>
            <a:ext cx="5881105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b="true" sz="4600" spc="-184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two transport</a:t>
            </a:r>
          </a:p>
          <a:p>
            <a:pPr algn="ctr">
              <a:lnSpc>
                <a:spcPts val="5060"/>
              </a:lnSpc>
            </a:pPr>
            <a:r>
              <a:rPr lang="en-US" b="true" sz="4600" spc="-184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responsibilities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4528851"/>
            <a:ext cx="6131028" cy="4517870"/>
            <a:chOff x="0" y="0"/>
            <a:chExt cx="1191547" cy="8780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1547" cy="878035"/>
            </a:xfrm>
            <a:custGeom>
              <a:avLst/>
              <a:gdLst/>
              <a:ahLst/>
              <a:cxnLst/>
              <a:rect r="r" b="b" t="t" l="l"/>
              <a:pathLst>
                <a:path h="878035" w="1191547">
                  <a:moveTo>
                    <a:pt x="17678" y="0"/>
                  </a:moveTo>
                  <a:lnTo>
                    <a:pt x="1173869" y="0"/>
                  </a:lnTo>
                  <a:cubicBezTo>
                    <a:pt x="1183632" y="0"/>
                    <a:pt x="1191547" y="7915"/>
                    <a:pt x="1191547" y="17678"/>
                  </a:cubicBezTo>
                  <a:lnTo>
                    <a:pt x="1191547" y="860356"/>
                  </a:lnTo>
                  <a:cubicBezTo>
                    <a:pt x="1191547" y="870120"/>
                    <a:pt x="1183632" y="878035"/>
                    <a:pt x="1173869" y="878035"/>
                  </a:cubicBezTo>
                  <a:lnTo>
                    <a:pt x="17678" y="878035"/>
                  </a:lnTo>
                  <a:cubicBezTo>
                    <a:pt x="7915" y="878035"/>
                    <a:pt x="0" y="870120"/>
                    <a:pt x="0" y="860356"/>
                  </a:cubicBezTo>
                  <a:lnTo>
                    <a:pt x="0" y="17678"/>
                  </a:lnTo>
                  <a:cubicBezTo>
                    <a:pt x="0" y="7915"/>
                    <a:pt x="7915" y="0"/>
                    <a:pt x="1767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191547" cy="906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89110" y="5724604"/>
            <a:ext cx="4410208" cy="79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4"/>
              </a:lnSpc>
            </a:pPr>
            <a:r>
              <a:rPr lang="en-US" b="true" sz="3206" spc="-128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Requirement interpretation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3757" y="6956252"/>
            <a:ext cx="4880915" cy="97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b="true" sz="2000" spc="-80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The implementation contract explicitly makes /sensor-data an HTTP endpoint, while MQTT is reserved for outbound device commands.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88571" y="3031661"/>
            <a:ext cx="1215271" cy="29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  <a:spcBef>
                <a:spcPct val="0"/>
              </a:spcBef>
            </a:pPr>
            <a:r>
              <a:rPr lang="en-US" b="true" sz="180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 JSON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46013" y="4947287"/>
            <a:ext cx="1425654" cy="29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  <a:spcBef>
                <a:spcPct val="0"/>
              </a:spcBef>
            </a:pPr>
            <a:r>
              <a:rPr lang="en-US" b="true" sz="180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SQLAlchemy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430499" y="4947287"/>
            <a:ext cx="1364813" cy="29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  <a:spcBef>
                <a:spcPct val="0"/>
              </a:spcBef>
            </a:pPr>
            <a:r>
              <a:rPr lang="en-US" b="true" sz="180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MQTT QoS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214986"/>
            <a:ext cx="6131028" cy="90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b="true" sz="7099" spc="-283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On</a:t>
            </a:r>
            <a:r>
              <a:rPr lang="en-US" b="true" sz="7099" spc="-283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e backend,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2989" y="0"/>
            <a:ext cx="8215011" cy="10287000"/>
            <a:chOff x="0" y="0"/>
            <a:chExt cx="216362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36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63624">
                  <a:moveTo>
                    <a:pt x="0" y="0"/>
                  </a:moveTo>
                  <a:lnTo>
                    <a:pt x="2163624" y="0"/>
                  </a:lnTo>
                  <a:lnTo>
                    <a:pt x="21636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63624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71725" y="6623945"/>
          <a:ext cx="9076728" cy="2973763"/>
        </p:xfrm>
        <a:graphic>
          <a:graphicData uri="http://schemas.openxmlformats.org/drawingml/2006/table">
            <a:tbl>
              <a:tblPr/>
              <a:tblGrid>
                <a:gridCol w="800953"/>
                <a:gridCol w="1489173"/>
                <a:gridCol w="1820729"/>
                <a:gridCol w="1501726"/>
                <a:gridCol w="1813041"/>
                <a:gridCol w="1651107"/>
              </a:tblGrid>
              <a:tr h="800835"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y Grotesk V3 Key Bold"/>
                          <a:ea typeface="Cy Grotesk V3 Key Bold"/>
                          <a:cs typeface="Cy Grotesk V3 Key Bold"/>
                          <a:sym typeface="Cy Grotesk V3 Key Bold"/>
                        </a:rPr>
                        <a:t>sensor_readings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y Grotesk V3 Key Bold"/>
                          <a:ea typeface="Cy Grotesk V3 Key Bold"/>
                          <a:cs typeface="Cy Grotesk V3 Key Bold"/>
                          <a:sym typeface="Cy Grotesk V3 Key Bold"/>
                        </a:rPr>
                        <a:t>sensor_readings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y Grotesk V3 Key Bold"/>
                          <a:ea typeface="Cy Grotesk V3 Key Bold"/>
                          <a:cs typeface="Cy Grotesk V3 Key Bold"/>
                          <a:sym typeface="Cy Grotesk V3 Key Bold"/>
                        </a:rPr>
                        <a:t>sensor_readings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y Grotesk V3 Key Bold"/>
                          <a:ea typeface="Cy Grotesk V3 Key Bold"/>
                          <a:cs typeface="Cy Grotesk V3 Key Bold"/>
                          <a:sym typeface="Cy Grotesk V3 Key Bold"/>
                        </a:rPr>
                        <a:t>sensor_readings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y Grotesk V3 Key Bold"/>
                          <a:ea typeface="Cy Grotesk V3 Key Bold"/>
                          <a:cs typeface="Cy Grotesk V3 Key Bold"/>
                          <a:sym typeface="Cy Grotesk V3 Key Bold"/>
                        </a:rPr>
                        <a:t>sensor_readings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y Grotesk V3 Key Bold"/>
                          <a:ea typeface="Cy Grotesk V3 Key Bold"/>
                          <a:cs typeface="Cy Grotesk V3 Key Bold"/>
                          <a:sym typeface="Cy Grotesk V3 Key Bold"/>
                        </a:rPr>
                        <a:t>sensor_readings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536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device_id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reated_at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emprature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recorded_at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humidity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9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backend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numeric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sensor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912752" y="689292"/>
            <a:ext cx="8194673" cy="5568683"/>
          </a:xfrm>
          <a:custGeom>
            <a:avLst/>
            <a:gdLst/>
            <a:ahLst/>
            <a:cxnLst/>
            <a:rect r="r" b="b" t="t" l="l"/>
            <a:pathLst>
              <a:path h="5568683" w="8194673">
                <a:moveTo>
                  <a:pt x="0" y="0"/>
                </a:moveTo>
                <a:lnTo>
                  <a:pt x="8194674" y="0"/>
                </a:lnTo>
                <a:lnTo>
                  <a:pt x="8194674" y="5568683"/>
                </a:lnTo>
                <a:lnTo>
                  <a:pt x="0" y="5568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02355" y="1175120"/>
            <a:ext cx="655628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24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The </a:t>
            </a:r>
            <a:r>
              <a:rPr lang="en-US" sz="6000" spc="-24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contract is explicit before implementation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02355" y="4261426"/>
            <a:ext cx="6556280" cy="4888554"/>
            <a:chOff x="0" y="0"/>
            <a:chExt cx="8741707" cy="651807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621593" y="777086"/>
              <a:ext cx="7120114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Val</a:t>
              </a: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idate and persist a reading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621593" y="197600"/>
              <a:ext cx="4282541" cy="77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PO</a:t>
              </a: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ST /sensor-data</a:t>
              </a:r>
            </a:p>
            <a:p>
              <a:pPr algn="l">
                <a:lnSpc>
                  <a:spcPts val="2155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621593" y="3240276"/>
              <a:ext cx="7120114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Val</a:t>
              </a: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idate and publish a command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21593" y="2660789"/>
              <a:ext cx="4282541" cy="77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PO</a:t>
              </a: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ST /device-control</a:t>
              </a:r>
            </a:p>
            <a:p>
              <a:pPr algn="l">
                <a:lnSpc>
                  <a:spcPts val="2155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21593" y="5703466"/>
              <a:ext cx="7120114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Prob</a:t>
              </a:r>
              <a:r>
                <a:rPr lang="en-US" b="true" sz="18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e live dependencies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1593" y="5123979"/>
              <a:ext cx="4282541" cy="778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5"/>
                </a:lnSpc>
              </a:pP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GE</a:t>
              </a:r>
              <a:r>
                <a:rPr lang="en-US" sz="2293" spc="-91" b="true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T /status</a:t>
              </a:r>
            </a:p>
            <a:p>
              <a:pPr algn="l">
                <a:lnSpc>
                  <a:spcPts val="2155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0975"/>
              <a:ext cx="1181243" cy="1441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8000" spc="-320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628904"/>
              <a:ext cx="1181243" cy="1441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8000" spc="-320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076832"/>
              <a:ext cx="1181243" cy="1441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0"/>
                </a:lnSpc>
              </a:pPr>
              <a:r>
                <a:rPr lang="en-US" b="true" sz="8000" spc="-320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3053" y="3596212"/>
            <a:ext cx="2913172" cy="1846323"/>
            <a:chOff x="0" y="0"/>
            <a:chExt cx="767255" cy="4862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255" cy="486274"/>
            </a:xfrm>
            <a:custGeom>
              <a:avLst/>
              <a:gdLst/>
              <a:ahLst/>
              <a:cxnLst/>
              <a:rect r="r" b="b" t="t" l="l"/>
              <a:pathLst>
                <a:path h="486274" w="767255">
                  <a:moveTo>
                    <a:pt x="124905" y="0"/>
                  </a:moveTo>
                  <a:lnTo>
                    <a:pt x="642350" y="0"/>
                  </a:lnTo>
                  <a:cubicBezTo>
                    <a:pt x="711333" y="0"/>
                    <a:pt x="767255" y="55922"/>
                    <a:pt x="767255" y="124905"/>
                  </a:cubicBezTo>
                  <a:lnTo>
                    <a:pt x="767255" y="361369"/>
                  </a:lnTo>
                  <a:cubicBezTo>
                    <a:pt x="767255" y="430352"/>
                    <a:pt x="711333" y="486274"/>
                    <a:pt x="642350" y="486274"/>
                  </a:cubicBezTo>
                  <a:lnTo>
                    <a:pt x="124905" y="486274"/>
                  </a:lnTo>
                  <a:cubicBezTo>
                    <a:pt x="55922" y="486274"/>
                    <a:pt x="0" y="430352"/>
                    <a:pt x="0" y="361369"/>
                  </a:cubicBezTo>
                  <a:lnTo>
                    <a:pt x="0" y="124905"/>
                  </a:lnTo>
                  <a:cubicBezTo>
                    <a:pt x="0" y="55922"/>
                    <a:pt x="55922" y="0"/>
                    <a:pt x="12490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767255" cy="438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5"/>
                </a:lnSpc>
              </a:pPr>
              <a:r>
                <a:rPr lang="en-US" b="true" sz="2293" spc="-91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HTTP request</a:t>
              </a:r>
            </a:p>
            <a:p>
              <a:pPr algn="ctr">
                <a:lnSpc>
                  <a:spcPts val="21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78698" y="3596212"/>
            <a:ext cx="2913172" cy="1846323"/>
            <a:chOff x="0" y="0"/>
            <a:chExt cx="767255" cy="4862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7255" cy="486274"/>
            </a:xfrm>
            <a:custGeom>
              <a:avLst/>
              <a:gdLst/>
              <a:ahLst/>
              <a:cxnLst/>
              <a:rect r="r" b="b" t="t" l="l"/>
              <a:pathLst>
                <a:path h="486274" w="767255">
                  <a:moveTo>
                    <a:pt x="124905" y="0"/>
                  </a:moveTo>
                  <a:lnTo>
                    <a:pt x="642350" y="0"/>
                  </a:lnTo>
                  <a:cubicBezTo>
                    <a:pt x="711333" y="0"/>
                    <a:pt x="767255" y="55922"/>
                    <a:pt x="767255" y="124905"/>
                  </a:cubicBezTo>
                  <a:lnTo>
                    <a:pt x="767255" y="361369"/>
                  </a:lnTo>
                  <a:cubicBezTo>
                    <a:pt x="767255" y="430352"/>
                    <a:pt x="711333" y="486274"/>
                    <a:pt x="642350" y="486274"/>
                  </a:cubicBezTo>
                  <a:lnTo>
                    <a:pt x="124905" y="486274"/>
                  </a:lnTo>
                  <a:cubicBezTo>
                    <a:pt x="55922" y="486274"/>
                    <a:pt x="0" y="430352"/>
                    <a:pt x="0" y="361369"/>
                  </a:cubicBezTo>
                  <a:lnTo>
                    <a:pt x="0" y="124905"/>
                  </a:lnTo>
                  <a:cubicBezTo>
                    <a:pt x="0" y="55922"/>
                    <a:pt x="55922" y="0"/>
                    <a:pt x="12490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767255" cy="438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5"/>
                </a:lnSpc>
              </a:pPr>
              <a:r>
                <a:rPr lang="en-US" b="true" sz="2293" spc="-91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HTTP request</a:t>
              </a:r>
            </a:p>
            <a:p>
              <a:pPr algn="ctr">
                <a:lnSpc>
                  <a:spcPts val="215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86390" y="3596212"/>
            <a:ext cx="2913172" cy="1846323"/>
            <a:chOff x="0" y="0"/>
            <a:chExt cx="767255" cy="486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7255" cy="486274"/>
            </a:xfrm>
            <a:custGeom>
              <a:avLst/>
              <a:gdLst/>
              <a:ahLst/>
              <a:cxnLst/>
              <a:rect r="r" b="b" t="t" l="l"/>
              <a:pathLst>
                <a:path h="486274" w="767255">
                  <a:moveTo>
                    <a:pt x="124905" y="0"/>
                  </a:moveTo>
                  <a:lnTo>
                    <a:pt x="642350" y="0"/>
                  </a:lnTo>
                  <a:cubicBezTo>
                    <a:pt x="711333" y="0"/>
                    <a:pt x="767255" y="55922"/>
                    <a:pt x="767255" y="124905"/>
                  </a:cubicBezTo>
                  <a:lnTo>
                    <a:pt x="767255" y="361369"/>
                  </a:lnTo>
                  <a:cubicBezTo>
                    <a:pt x="767255" y="430352"/>
                    <a:pt x="711333" y="486274"/>
                    <a:pt x="642350" y="486274"/>
                  </a:cubicBezTo>
                  <a:lnTo>
                    <a:pt x="124905" y="486274"/>
                  </a:lnTo>
                  <a:cubicBezTo>
                    <a:pt x="55922" y="486274"/>
                    <a:pt x="0" y="430352"/>
                    <a:pt x="0" y="361369"/>
                  </a:cubicBezTo>
                  <a:lnTo>
                    <a:pt x="0" y="124905"/>
                  </a:lnTo>
                  <a:cubicBezTo>
                    <a:pt x="0" y="55922"/>
                    <a:pt x="55922" y="0"/>
                    <a:pt x="12490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767255" cy="438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5"/>
                </a:lnSpc>
              </a:pPr>
              <a:r>
                <a:rPr lang="en-US" b="true" sz="2293" spc="-91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HTTP request</a:t>
              </a:r>
            </a:p>
            <a:p>
              <a:pPr algn="ctr">
                <a:lnSpc>
                  <a:spcPts val="215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501775" y="3596212"/>
            <a:ext cx="2913172" cy="1846323"/>
            <a:chOff x="0" y="0"/>
            <a:chExt cx="767255" cy="486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7255" cy="486274"/>
            </a:xfrm>
            <a:custGeom>
              <a:avLst/>
              <a:gdLst/>
              <a:ahLst/>
              <a:cxnLst/>
              <a:rect r="r" b="b" t="t" l="l"/>
              <a:pathLst>
                <a:path h="486274" w="767255">
                  <a:moveTo>
                    <a:pt x="124905" y="0"/>
                  </a:moveTo>
                  <a:lnTo>
                    <a:pt x="642350" y="0"/>
                  </a:lnTo>
                  <a:cubicBezTo>
                    <a:pt x="711333" y="0"/>
                    <a:pt x="767255" y="55922"/>
                    <a:pt x="767255" y="124905"/>
                  </a:cubicBezTo>
                  <a:lnTo>
                    <a:pt x="767255" y="361369"/>
                  </a:lnTo>
                  <a:cubicBezTo>
                    <a:pt x="767255" y="430352"/>
                    <a:pt x="711333" y="486274"/>
                    <a:pt x="642350" y="486274"/>
                  </a:cubicBezTo>
                  <a:lnTo>
                    <a:pt x="124905" y="486274"/>
                  </a:lnTo>
                  <a:cubicBezTo>
                    <a:pt x="55922" y="486274"/>
                    <a:pt x="0" y="430352"/>
                    <a:pt x="0" y="361369"/>
                  </a:cubicBezTo>
                  <a:lnTo>
                    <a:pt x="0" y="124905"/>
                  </a:lnTo>
                  <a:cubicBezTo>
                    <a:pt x="0" y="55922"/>
                    <a:pt x="55922" y="0"/>
                    <a:pt x="12490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767255" cy="438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5"/>
                </a:lnSpc>
              </a:pPr>
              <a:r>
                <a:rPr lang="en-US" b="true" sz="2293" spc="-91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HTTP request</a:t>
              </a:r>
            </a:p>
            <a:p>
              <a:pPr algn="ctr">
                <a:lnSpc>
                  <a:spcPts val="215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95560" y="3596212"/>
            <a:ext cx="2913172" cy="1846323"/>
            <a:chOff x="0" y="0"/>
            <a:chExt cx="3884230" cy="246176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884230" cy="2461764"/>
              <a:chOff x="0" y="0"/>
              <a:chExt cx="767255" cy="48627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67255" cy="486274"/>
              </a:xfrm>
              <a:custGeom>
                <a:avLst/>
                <a:gdLst/>
                <a:ahLst/>
                <a:cxnLst/>
                <a:rect r="r" b="b" t="t" l="l"/>
                <a:pathLst>
                  <a:path h="486274" w="767255">
                    <a:moveTo>
                      <a:pt x="124905" y="0"/>
                    </a:moveTo>
                    <a:lnTo>
                      <a:pt x="642350" y="0"/>
                    </a:lnTo>
                    <a:cubicBezTo>
                      <a:pt x="711333" y="0"/>
                      <a:pt x="767255" y="55922"/>
                      <a:pt x="767255" y="124905"/>
                    </a:cubicBezTo>
                    <a:lnTo>
                      <a:pt x="767255" y="361369"/>
                    </a:lnTo>
                    <a:cubicBezTo>
                      <a:pt x="767255" y="430352"/>
                      <a:pt x="711333" y="486274"/>
                      <a:pt x="642350" y="486274"/>
                    </a:cubicBezTo>
                    <a:lnTo>
                      <a:pt x="124905" y="486274"/>
                    </a:lnTo>
                    <a:cubicBezTo>
                      <a:pt x="55922" y="486274"/>
                      <a:pt x="0" y="430352"/>
                      <a:pt x="0" y="361369"/>
                    </a:cubicBezTo>
                    <a:lnTo>
                      <a:pt x="0" y="124905"/>
                    </a:lnTo>
                    <a:cubicBezTo>
                      <a:pt x="0" y="55922"/>
                      <a:pt x="55922" y="0"/>
                      <a:pt x="12490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47625"/>
                <a:ext cx="767255" cy="4386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5"/>
                  </a:lnSpc>
                </a:pPr>
                <a:r>
                  <a:rPr lang="en-US" b="true" sz="2293" spc="-91">
                    <a:solidFill>
                      <a:srgbClr val="000000"/>
                    </a:solidFill>
                    <a:latin typeface="Cy Grotesk V3 Key Semi-Bold"/>
                    <a:ea typeface="Cy Grotesk V3 Key Semi-Bold"/>
                    <a:cs typeface="Cy Grotesk V3 Key Semi-Bold"/>
                    <a:sym typeface="Cy Grotesk V3 Key Semi-Bold"/>
                  </a:rPr>
                  <a:t>HTTP request</a:t>
                </a:r>
              </a:p>
              <a:p>
                <a:pPr algn="ctr">
                  <a:lnSpc>
                    <a:spcPts val="2155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50011" y="637416"/>
              <a:ext cx="2784208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pc="-99">
                  <a:solidFill>
                    <a:srgbClr val="FFFFFF"/>
                  </a:solidFill>
                  <a:latin typeface="Open Sans Semi-Bold"/>
                  <a:ea typeface="Open Sans Semi-Bold"/>
                  <a:cs typeface="Open Sans Semi-Bold"/>
                  <a:sym typeface="Open Sans Semi-Bold"/>
                </a:rPr>
                <a:t>Mos</a:t>
              </a:r>
              <a:r>
                <a:rPr lang="en-US" b="true" sz="2499" spc="-99">
                  <a:solidFill>
                    <a:srgbClr val="FFFFFF"/>
                  </a:solidFill>
                  <a:latin typeface="Open Sans Semi-Bold"/>
                  <a:ea typeface="Open Sans Semi-Bold"/>
                  <a:cs typeface="Open Sans Semi-Bold"/>
                  <a:sym typeface="Open Sans Semi-Bold"/>
                </a:rPr>
                <a:t>quitto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12250" y="1345762"/>
              <a:ext cx="305973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72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brok</a:t>
              </a:r>
              <a:r>
                <a:rPr lang="en-US" sz="1800" spc="-72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er ACK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3786225" y="4519373"/>
            <a:ext cx="4924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>
            <a:off x="7191870" y="4519373"/>
            <a:ext cx="49452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0599563" y="4519373"/>
            <a:ext cx="4959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14008732" y="4519373"/>
            <a:ext cx="4930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7998375"/>
            <a:ext cx="8975264" cy="1259925"/>
            <a:chOff x="0" y="0"/>
            <a:chExt cx="2363856" cy="3318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63856" cy="331832"/>
            </a:xfrm>
            <a:custGeom>
              <a:avLst/>
              <a:gdLst/>
              <a:ahLst/>
              <a:cxnLst/>
              <a:rect r="r" b="b" t="t" l="l"/>
              <a:pathLst>
                <a:path h="331832" w="2363856">
                  <a:moveTo>
                    <a:pt x="25015" y="0"/>
                  </a:moveTo>
                  <a:lnTo>
                    <a:pt x="2338841" y="0"/>
                  </a:lnTo>
                  <a:cubicBezTo>
                    <a:pt x="2352656" y="0"/>
                    <a:pt x="2363856" y="11200"/>
                    <a:pt x="2363856" y="25015"/>
                  </a:cubicBezTo>
                  <a:lnTo>
                    <a:pt x="2363856" y="306817"/>
                  </a:lnTo>
                  <a:cubicBezTo>
                    <a:pt x="2363856" y="320633"/>
                    <a:pt x="2352656" y="331832"/>
                    <a:pt x="2338841" y="331832"/>
                  </a:cubicBezTo>
                  <a:lnTo>
                    <a:pt x="25015" y="331832"/>
                  </a:lnTo>
                  <a:cubicBezTo>
                    <a:pt x="11200" y="331832"/>
                    <a:pt x="0" y="320633"/>
                    <a:pt x="0" y="306817"/>
                  </a:cubicBezTo>
                  <a:lnTo>
                    <a:pt x="0" y="25015"/>
                  </a:lnTo>
                  <a:cubicBezTo>
                    <a:pt x="0" y="11200"/>
                    <a:pt x="11200" y="0"/>
                    <a:pt x="25015" y="0"/>
                  </a:cubicBezTo>
                  <a:close/>
                </a:path>
              </a:pathLst>
            </a:custGeom>
            <a:solidFill>
              <a:srgbClr val="000000">
                <a:alpha val="81961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363856" cy="32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7"/>
                </a:lnSpc>
              </a:pPr>
              <a:r>
                <a:rPr lang="en-US" b="true" sz="2293" spc="-91">
                  <a:solidFill>
                    <a:srgbClr val="FFFFFF">
                      <a:alpha val="81961"/>
                    </a:srgbClr>
                  </a:solidFill>
                  <a:latin typeface="Open Sans Semi-Bold"/>
                  <a:ea typeface="Open Sans Semi-Bold"/>
                  <a:cs typeface="Open Sans Semi-Bold"/>
                  <a:sym typeface="Open Sans Semi-Bold"/>
                </a:rPr>
                <a:t>{ "device_id": "fan-001", "command": "ON",</a:t>
              </a:r>
            </a:p>
            <a:p>
              <a:pPr algn="ctr">
                <a:lnSpc>
                  <a:spcPts val="2637"/>
                </a:lnSpc>
              </a:pPr>
              <a:r>
                <a:rPr lang="en-US" b="true" sz="2293" spc="-91">
                  <a:solidFill>
                    <a:srgbClr val="FFFFFF">
                      <a:alpha val="81961"/>
                    </a:srgbClr>
                  </a:solidFill>
                  <a:latin typeface="Open Sans Semi-Bold"/>
                  <a:ea typeface="Open Sans Semi-Bold"/>
                  <a:cs typeface="Open Sans Semi-Bold"/>
                  <a:sym typeface="Open Sans Semi-Bold"/>
                </a:rPr>
                <a:t>"timestamp": "2026-09-19T10:35:00Z" }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0" y="-18708"/>
            <a:ext cx="18290043" cy="3044255"/>
          </a:xfrm>
          <a:custGeom>
            <a:avLst/>
            <a:gdLst/>
            <a:ahLst/>
            <a:cxnLst/>
            <a:rect r="r" b="b" t="t" l="l"/>
            <a:pathLst>
              <a:path h="3044255" w="18290043">
                <a:moveTo>
                  <a:pt x="0" y="0"/>
                </a:moveTo>
                <a:lnTo>
                  <a:pt x="18290043" y="0"/>
                </a:lnTo>
                <a:lnTo>
                  <a:pt x="18290043" y="3044256"/>
                </a:lnTo>
                <a:lnTo>
                  <a:pt x="0" y="304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-299535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2254" y="643623"/>
            <a:ext cx="13387813" cy="89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5"/>
              </a:lnSpc>
            </a:pPr>
            <a:r>
              <a:rPr lang="en-US" sz="7069" spc="-28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Pers</a:t>
            </a:r>
            <a:r>
              <a:rPr lang="en-US" sz="7069" spc="-28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istent MQTT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2254" y="1647352"/>
            <a:ext cx="13387813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5000" spc="-2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keeps commands reliable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2254" y="2420456"/>
            <a:ext cx="8921711" cy="38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2293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The HTTP request returns only after publish acceptance is confirmed.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5561" y="4044229"/>
            <a:ext cx="20881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HTTP request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2240" y="4580251"/>
            <a:ext cx="229479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evice_id + ON/OFF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91207" y="4078960"/>
            <a:ext cx="20881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DeviceSe</a:t>
            </a: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87886" y="4614982"/>
            <a:ext cx="229479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builds </a:t>
            </a: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command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99922" y="4078960"/>
            <a:ext cx="20881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MQ</a:t>
            </a: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TT client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96601" y="4614982"/>
            <a:ext cx="229479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lif</a:t>
            </a: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ecycle-owned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14283" y="4078960"/>
            <a:ext cx="20881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</a:t>
            </a:r>
            <a:r>
              <a:rPr lang="en-US" b="true" sz="2499" spc="-99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evice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10962" y="4614982"/>
            <a:ext cx="229479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subs</a:t>
            </a:r>
            <a:r>
              <a:rPr lang="en-US" sz="1800" spc="-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cribed topic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2254" y="5956049"/>
            <a:ext cx="9336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Topic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2254" y="6608995"/>
            <a:ext cx="407050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spc="-92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g</a:t>
            </a:r>
            <a:r>
              <a:rPr lang="en-US" b="true" sz="2300" spc="-92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reenhouse/control/{device_id}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2254" y="7341150"/>
            <a:ext cx="14030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Payl</a:t>
            </a:r>
            <a:r>
              <a:rPr lang="en-US" b="true" sz="3000" spc="-1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oad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71049" y="6184649"/>
            <a:ext cx="186320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Q</a:t>
            </a:r>
            <a:r>
              <a:rPr lang="en-US" b="true" sz="3000" spc="-1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 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71049" y="6837595"/>
            <a:ext cx="6088251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 spc="-92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B</a:t>
            </a:r>
            <a:r>
              <a:rPr lang="en-US" b="true" sz="2300" spc="-92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roker acknowledgement matters more for control commands than for best-effort telemetry. QoS 1 gives at-least-once delivery, so devices should treat commands idempotently.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7268680"/>
            <a:ext cx="8115300" cy="95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4250361"/>
          </a:xfrm>
          <a:custGeom>
            <a:avLst/>
            <a:gdLst/>
            <a:ahLst/>
            <a:cxnLst/>
            <a:rect r="r" b="b" t="t" l="l"/>
            <a:pathLst>
              <a:path h="4250361" w="18288000">
                <a:moveTo>
                  <a:pt x="0" y="0"/>
                </a:moveTo>
                <a:lnTo>
                  <a:pt x="18288000" y="0"/>
                </a:lnTo>
                <a:lnTo>
                  <a:pt x="18288000" y="4250361"/>
                </a:lnTo>
                <a:lnTo>
                  <a:pt x="0" y="4250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-114543" r="0" b="-7373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62001"/>
            <a:ext cx="18288000" cy="6036639"/>
            <a:chOff x="0" y="0"/>
            <a:chExt cx="4816593" cy="15898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589897"/>
            </a:xfrm>
            <a:custGeom>
              <a:avLst/>
              <a:gdLst/>
              <a:ahLst/>
              <a:cxnLst/>
              <a:rect r="r" b="b" t="t" l="l"/>
              <a:pathLst>
                <a:path h="158989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89897"/>
                  </a:lnTo>
                  <a:lnTo>
                    <a:pt x="0" y="1589897"/>
                  </a:lnTo>
                  <a:close/>
                </a:path>
              </a:pathLst>
            </a:custGeom>
            <a:solidFill>
              <a:srgbClr val="FFFFFF">
                <a:alpha val="6784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816593" cy="1618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4250361"/>
            <a:ext cx="18288000" cy="6036639"/>
            <a:chOff x="0" y="0"/>
            <a:chExt cx="4816593" cy="15898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589897"/>
            </a:xfrm>
            <a:custGeom>
              <a:avLst/>
              <a:gdLst/>
              <a:ahLst/>
              <a:cxnLst/>
              <a:rect r="r" b="b" t="t" l="l"/>
              <a:pathLst>
                <a:path h="158989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89897"/>
                  </a:lnTo>
                  <a:lnTo>
                    <a:pt x="0" y="1589897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1618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28655" y="5143500"/>
            <a:ext cx="7530645" cy="4114800"/>
            <a:chOff x="0" y="0"/>
            <a:chExt cx="1983380" cy="10837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3380" cy="1083733"/>
            </a:xfrm>
            <a:custGeom>
              <a:avLst/>
              <a:gdLst/>
              <a:ahLst/>
              <a:cxnLst/>
              <a:rect r="r" b="b" t="t" l="l"/>
              <a:pathLst>
                <a:path h="1083733" w="1983380">
                  <a:moveTo>
                    <a:pt x="48319" y="0"/>
                  </a:moveTo>
                  <a:lnTo>
                    <a:pt x="1935061" y="0"/>
                  </a:lnTo>
                  <a:cubicBezTo>
                    <a:pt x="1947876" y="0"/>
                    <a:pt x="1960166" y="5091"/>
                    <a:pt x="1969227" y="14152"/>
                  </a:cubicBezTo>
                  <a:cubicBezTo>
                    <a:pt x="1978289" y="23214"/>
                    <a:pt x="1983380" y="35504"/>
                    <a:pt x="1983380" y="48319"/>
                  </a:cubicBezTo>
                  <a:lnTo>
                    <a:pt x="1983380" y="1035415"/>
                  </a:lnTo>
                  <a:cubicBezTo>
                    <a:pt x="1983380" y="1048230"/>
                    <a:pt x="1978289" y="1060520"/>
                    <a:pt x="1969227" y="1069581"/>
                  </a:cubicBezTo>
                  <a:cubicBezTo>
                    <a:pt x="1960166" y="1078643"/>
                    <a:pt x="1947876" y="1083733"/>
                    <a:pt x="1935061" y="1083733"/>
                  </a:cubicBezTo>
                  <a:lnTo>
                    <a:pt x="48319" y="1083733"/>
                  </a:lnTo>
                  <a:cubicBezTo>
                    <a:pt x="21633" y="1083733"/>
                    <a:pt x="0" y="1062100"/>
                    <a:pt x="0" y="1035415"/>
                  </a:cubicBezTo>
                  <a:lnTo>
                    <a:pt x="0" y="48319"/>
                  </a:lnTo>
                  <a:cubicBezTo>
                    <a:pt x="0" y="35504"/>
                    <a:pt x="5091" y="23214"/>
                    <a:pt x="14152" y="14152"/>
                  </a:cubicBezTo>
                  <a:cubicBezTo>
                    <a:pt x="23214" y="5091"/>
                    <a:pt x="35504" y="0"/>
                    <a:pt x="4831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983380" cy="1036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5"/>
                </a:lnSpc>
              </a:pPr>
              <a:r>
                <a:rPr lang="en-US" b="true" sz="2293" spc="-91">
                  <a:solidFill>
                    <a:srgbClr val="000000"/>
                  </a:solidFill>
                  <a:latin typeface="Cy Grotesk V3 Key Semi-Bold"/>
                  <a:ea typeface="Cy Grotesk V3 Key Semi-Bold"/>
                  <a:cs typeface="Cy Grotesk V3 Key Semi-Bold"/>
                  <a:sym typeface="Cy Grotesk V3 Key Semi-Bold"/>
                </a:rPr>
                <a:t>HTTP request</a:t>
              </a:r>
            </a:p>
            <a:p>
              <a:pPr algn="ctr">
                <a:lnSpc>
                  <a:spcPts val="215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190625"/>
            <a:ext cx="12048682" cy="172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999" spc="-27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Health i</a:t>
            </a:r>
            <a:r>
              <a:rPr lang="en-US" sz="6999" spc="-279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s derived from real dependency checks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091099"/>
            <a:ext cx="12048682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ilures are visible without exposing credentials or stack traces.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901272"/>
            <a:ext cx="8115300" cy="10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</a:pPr>
            <a:r>
              <a:rPr lang="en-US" sz="2061" b="true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Backend - Up</a:t>
            </a:r>
          </a:p>
          <a:p>
            <a:pPr algn="l">
              <a:lnSpc>
                <a:spcPts val="2885"/>
              </a:lnSpc>
            </a:pPr>
            <a:r>
              <a:rPr lang="en-US" sz="2061" b="true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Database - Connected</a:t>
            </a:r>
          </a:p>
          <a:p>
            <a:pPr algn="l">
              <a:lnSpc>
                <a:spcPts val="2885"/>
              </a:lnSpc>
              <a:spcBef>
                <a:spcPct val="0"/>
              </a:spcBef>
            </a:pPr>
            <a:r>
              <a:rPr lang="en-US" b="true" sz="206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MQTT - Conncected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364124"/>
            <a:ext cx="2318209" cy="4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3550" spc="-14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Healthy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159012"/>
            <a:ext cx="8115300" cy="7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5"/>
              </a:lnSpc>
              <a:spcBef>
                <a:spcPct val="0"/>
              </a:spcBef>
            </a:pPr>
            <a:r>
              <a:rPr lang="en-US" b="true" sz="2061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Any failed DB query or disconnected MQTT client changes the aggregate status.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621864"/>
            <a:ext cx="2318209" cy="4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3550" spc="-14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Degraded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7628" y="5558054"/>
            <a:ext cx="6692700" cy="4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3550" spc="-142" b="true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Consistent error env</a:t>
            </a:r>
            <a:r>
              <a:rPr lang="en-US" b="true" sz="3550" spc="-142">
                <a:solidFill>
                  <a:srgbClr val="FFFFFF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elope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47628" y="6241339"/>
            <a:ext cx="5745840" cy="168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</a:p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"</a:t>
            </a: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success": false,</a:t>
            </a:r>
          </a:p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"error": {</a:t>
            </a:r>
          </a:p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"code": "MQTT_UNAVAILABLE",</a:t>
            </a:r>
          </a:p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"message": "MQTT broker is unavailab</a:t>
            </a: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le"</a:t>
            </a:r>
          </a:p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}</a:t>
            </a:r>
          </a:p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7628" y="8195005"/>
            <a:ext cx="6692700" cy="73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Malformed</a:t>
            </a: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JSON, validation fail</a:t>
            </a: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ures, database outages, and broker outages follow the same external structure. Internal detail stays</a:t>
            </a:r>
            <a:r>
              <a:rPr lang="en-US" sz="2050" spc="-8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 logs.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6051" y="3289855"/>
            <a:ext cx="8975264" cy="2969300"/>
            <a:chOff x="0" y="0"/>
            <a:chExt cx="2363856" cy="7820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3856" cy="782038"/>
            </a:xfrm>
            <a:custGeom>
              <a:avLst/>
              <a:gdLst/>
              <a:ahLst/>
              <a:cxnLst/>
              <a:rect r="r" b="b" t="t" l="l"/>
              <a:pathLst>
                <a:path h="782038" w="2363856">
                  <a:moveTo>
                    <a:pt x="25015" y="0"/>
                  </a:moveTo>
                  <a:lnTo>
                    <a:pt x="2338841" y="0"/>
                  </a:lnTo>
                  <a:cubicBezTo>
                    <a:pt x="2352656" y="0"/>
                    <a:pt x="2363856" y="11200"/>
                    <a:pt x="2363856" y="25015"/>
                  </a:cubicBezTo>
                  <a:lnTo>
                    <a:pt x="2363856" y="757023"/>
                  </a:lnTo>
                  <a:cubicBezTo>
                    <a:pt x="2363856" y="770838"/>
                    <a:pt x="2352656" y="782038"/>
                    <a:pt x="2338841" y="782038"/>
                  </a:cubicBezTo>
                  <a:lnTo>
                    <a:pt x="25015" y="782038"/>
                  </a:lnTo>
                  <a:cubicBezTo>
                    <a:pt x="18381" y="782038"/>
                    <a:pt x="12018" y="779402"/>
                    <a:pt x="7327" y="774711"/>
                  </a:cubicBezTo>
                  <a:cubicBezTo>
                    <a:pt x="2635" y="770020"/>
                    <a:pt x="0" y="763657"/>
                    <a:pt x="0" y="757023"/>
                  </a:cubicBezTo>
                  <a:lnTo>
                    <a:pt x="0" y="25015"/>
                  </a:lnTo>
                  <a:cubicBezTo>
                    <a:pt x="0" y="11200"/>
                    <a:pt x="11200" y="0"/>
                    <a:pt x="25015" y="0"/>
                  </a:cubicBezTo>
                  <a:close/>
                </a:path>
              </a:pathLst>
            </a:custGeom>
            <a:solidFill>
              <a:srgbClr val="000000">
                <a:alpha val="8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363856" cy="77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1785"/>
            <a:ext cx="18290043" cy="2838690"/>
          </a:xfrm>
          <a:custGeom>
            <a:avLst/>
            <a:gdLst/>
            <a:ahLst/>
            <a:cxnLst/>
            <a:rect r="r" b="b" t="t" l="l"/>
            <a:pathLst>
              <a:path h="2838690" w="18290043">
                <a:moveTo>
                  <a:pt x="0" y="0"/>
                </a:moveTo>
                <a:lnTo>
                  <a:pt x="18290043" y="0"/>
                </a:lnTo>
                <a:lnTo>
                  <a:pt x="18290043" y="2838690"/>
                </a:lnTo>
                <a:lnTo>
                  <a:pt x="0" y="2838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-220640" r="0" b="-107827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68728" y="6449655"/>
          <a:ext cx="16076617" cy="2571750"/>
        </p:xfrm>
        <a:graphic>
          <a:graphicData uri="http://schemas.openxmlformats.org/drawingml/2006/table">
            <a:tbl>
              <a:tblPr/>
              <a:tblGrid>
                <a:gridCol w="3215323"/>
                <a:gridCol w="3215323"/>
                <a:gridCol w="3215323"/>
                <a:gridCol w="3215323"/>
                <a:gridCol w="3215323"/>
              </a:tblGrid>
              <a:tr h="850805">
                <a:tc gridSpan="5"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Database persistence 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Database persistence 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Database persistence 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Database persistence 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Database persistence evidence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8508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humidity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stored through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temperature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device_id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1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62.8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POST /sensor-data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29.4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reviewer-sensor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106713" y="328954"/>
            <a:ext cx="13387813" cy="181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7069" spc="-28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Test</a:t>
            </a:r>
            <a:r>
              <a:rPr lang="en-US" sz="7069" spc="-282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ing proves</a:t>
            </a:r>
          </a:p>
          <a:p>
            <a:pPr algn="l">
              <a:lnSpc>
                <a:spcPts val="6456"/>
              </a:lnSpc>
            </a:pPr>
            <a:r>
              <a:rPr lang="en-US" sz="5869" spc="-234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the critical paths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7142" y="2210562"/>
            <a:ext cx="8720852" cy="38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2293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Automat</a:t>
            </a:r>
            <a:r>
              <a:rPr lang="en-US" b="true" sz="2293" spc="-9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ed tests are paired with manual reviewer-style verification.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4399" y="4109850"/>
            <a:ext cx="318099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1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</a:t>
            </a:r>
            <a:r>
              <a:rPr lang="en-US" b="true" sz="3199" spc="-1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21 tests passing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4698" y="3099355"/>
            <a:ext cx="1510427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  <a:spcBef>
                <a:spcPct val="0"/>
              </a:spcBef>
            </a:pPr>
            <a:r>
              <a:rPr lang="en-US" b="true" sz="10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698" y="4940220"/>
            <a:ext cx="608825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Sens</a:t>
            </a:r>
            <a:r>
              <a:rPr lang="en-US" b="true" sz="2000" spc="-8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or validation · command validation · MQTT failure · healthy/degraded status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42471" y="3727603"/>
            <a:ext cx="79824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pc="-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MQTT subscriber evidence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42471" y="4303123"/>
            <a:ext cx="798242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$</a:t>
            </a:r>
            <a:r>
              <a:rPr lang="en-US" sz="2100" spc="-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mosquitto_sub -t greenhouse/control/# -v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greenhouse/control/fan-001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{"device_id":"fan-001","command":"ON",...}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8728" y="9316680"/>
            <a:ext cx="160766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Manu</a:t>
            </a:r>
            <a:r>
              <a:rPr lang="en-US" b="true" sz="2000" spc="-80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al integration run retained separate recorded_at and created_at values.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888705"/>
            <a:ext cx="9144000" cy="7398295"/>
            <a:chOff x="0" y="0"/>
            <a:chExt cx="2408296" cy="1948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1948522"/>
            </a:xfrm>
            <a:custGeom>
              <a:avLst/>
              <a:gdLst/>
              <a:ahLst/>
              <a:cxnLst/>
              <a:rect r="r" b="b" t="t" l="l"/>
              <a:pathLst>
                <a:path h="1948522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1948522"/>
                  </a:lnTo>
                  <a:lnTo>
                    <a:pt x="0" y="1948522"/>
                  </a:lnTo>
                  <a:close/>
                </a:path>
              </a:pathLst>
            </a:custGeom>
            <a:solidFill>
              <a:srgbClr val="EAEB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197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8708"/>
            <a:ext cx="18290043" cy="2878837"/>
          </a:xfrm>
          <a:custGeom>
            <a:avLst/>
            <a:gdLst/>
            <a:ahLst/>
            <a:cxnLst/>
            <a:rect r="r" b="b" t="t" l="l"/>
            <a:pathLst>
              <a:path h="2878837" w="18290043">
                <a:moveTo>
                  <a:pt x="0" y="0"/>
                </a:moveTo>
                <a:lnTo>
                  <a:pt x="18290043" y="0"/>
                </a:lnTo>
                <a:lnTo>
                  <a:pt x="18290043" y="2878838"/>
                </a:lnTo>
                <a:lnTo>
                  <a:pt x="0" y="2878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 l="0" t="0" r="0" b="-32249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73466"/>
            <a:ext cx="16230600" cy="74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1"/>
              </a:lnSpc>
            </a:pPr>
            <a:r>
              <a:rPr lang="en-US" sz="5799" spc="-231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D</a:t>
            </a:r>
            <a:r>
              <a:rPr lang="en-US" sz="5799" spc="-231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esign choices keep the submission focused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78089"/>
            <a:ext cx="16230600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roduction expansion is possible without hiding today’s failure modes.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44377"/>
            <a:ext cx="71496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ed validation and automatic OpenAPI with a small code surface.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91351"/>
            <a:ext cx="4290125" cy="4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3799" spc="-151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Cu</a:t>
            </a:r>
            <a:r>
              <a:rPr lang="en-US" sz="3799" spc="-151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rrent decisions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52847"/>
            <a:ext cx="3542398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Fas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99533"/>
            <a:ext cx="71496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Durabl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 relational storage with explicit schema evolution.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008002"/>
            <a:ext cx="3542398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Pos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tgreSQL + Alembic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502263"/>
            <a:ext cx="71496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Low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er request overhead and broker acknowledgement for commands.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110733"/>
            <a:ext cx="429012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Persis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tent MQTT + QoS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57418"/>
            <a:ext cx="71496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rtial failure is surfaced as degraded instead of masked.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565888"/>
            <a:ext cx="429012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Dep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endency-aware health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9659" y="4848384"/>
            <a:ext cx="71496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TLS,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authentication, secret management, and per-device authorization.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09659" y="3395357"/>
            <a:ext cx="5236984" cy="4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3799" spc="-151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Futu</a:t>
            </a:r>
            <a:r>
              <a:rPr lang="en-US" sz="3799" spc="-151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re improvements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09659" y="4456854"/>
            <a:ext cx="3542398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Securi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09659" y="6303539"/>
            <a:ext cx="71496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Metrics, tracing, structured log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aggregation, and alert thresholds.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09659" y="5912009"/>
            <a:ext cx="3542398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Obse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rvability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09659" y="7758695"/>
            <a:ext cx="71496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Conn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ection tuning, idempotency keys, and horizontal backend replicas.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09659" y="7367164"/>
            <a:ext cx="429012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Scale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09659" y="9213850"/>
            <a:ext cx="71496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</a:t>
            </a:r>
            <a:r>
              <a:rPr lang="en-US" b="true" sz="20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inbound MQTT consumption only when product requirements demand it.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09659" y="8822320"/>
            <a:ext cx="4290125" cy="31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Tel</a:t>
            </a:r>
            <a:r>
              <a:rPr lang="en-US" sz="2500" spc="-100" b="true">
                <a:solidFill>
                  <a:srgbClr val="000000"/>
                </a:solidFill>
                <a:latin typeface="Cy Grotesk V3 Key Semi-Bold"/>
                <a:ea typeface="Cy Grotesk V3 Key Semi-Bold"/>
                <a:cs typeface="Cy Grotesk V3 Key Semi-Bold"/>
                <a:sym typeface="Cy Grotesk V3 Key Semi-Bold"/>
              </a:rPr>
              <a:t>emetry 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DAHVtvh0wB4</dc:identifier>
  <dcterms:modified xsi:type="dcterms:W3CDTF">2011-08-01T06:04:30Z</dcterms:modified>
  <cp:revision>1</cp:revision>
  <dc:title>Greenhouse_IoT_Backend_BadruzzamanNafiz</dc:title>
</cp:coreProperties>
</file>