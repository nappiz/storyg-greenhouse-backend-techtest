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88c83340de4b6c" /><Relationship Type="http://schemas.openxmlformats.org/officeDocument/2006/relationships/extended-properties" Target="/docProps/app.xml" Id="R301d650dc50d48f8" /><Relationship Type="http://schemas.openxmlformats.org/officeDocument/2006/relationships/officeDocument" Target="/ppt/presentation.xml" Id="R28b4bb31c791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994c8ffc62428e"/>
  </p:sldMasterIdLst>
  <p:notesMasterIdLst>
    <p:notesMasterId xmlns:r="http://schemas.openxmlformats.org/officeDocument/2006/relationships" r:id="Rb7cc2b6226584cc3"/>
  </p:notesMasterIdLst>
  <p:sldIdLst>
    <p:sldId xmlns:r="http://schemas.openxmlformats.org/officeDocument/2006/relationships" id="256" r:id="R58ced515f4ec45d3"/>
    <p:sldId xmlns:r="http://schemas.openxmlformats.org/officeDocument/2006/relationships" id="257" r:id="R5e2af0d33f1d473b"/>
    <p:sldId xmlns:r="http://schemas.openxmlformats.org/officeDocument/2006/relationships" id="258" r:id="R763c182cb3d84ea9"/>
    <p:sldId xmlns:r="http://schemas.openxmlformats.org/officeDocument/2006/relationships" id="259" r:id="Rccce36f65b4b465f"/>
    <p:sldId xmlns:r="http://schemas.openxmlformats.org/officeDocument/2006/relationships" id="260" r:id="R7382199e69764412"/>
    <p:sldId xmlns:r="http://schemas.openxmlformats.org/officeDocument/2006/relationships" id="261" r:id="R4386796bac704c6f"/>
    <p:sldId xmlns:r="http://schemas.openxmlformats.org/officeDocument/2006/relationships" id="262" r:id="Rf6457d0c117c4c4b"/>
    <p:sldId xmlns:r="http://schemas.openxmlformats.org/officeDocument/2006/relationships" id="263" r:id="R3dddb70bb959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89b592e6b849e3" /><Relationship Type="http://schemas.openxmlformats.org/officeDocument/2006/relationships/slideMaster" Target="/ppt/slideMasters/slideMaster1.xml" Id="R67994c8ffc62428e" /><Relationship Type="http://schemas.openxmlformats.org/officeDocument/2006/relationships/notesMaster" Target="/ppt/notesMasters/notesMaster1.xml" Id="Rb7cc2b6226584cc3" /><Relationship Type="http://schemas.openxmlformats.org/officeDocument/2006/relationships/presProps" Target="/ppt/presProps.xml" Id="Rf25d17a3eba543f6" /><Relationship Type="http://schemas.openxmlformats.org/officeDocument/2006/relationships/tableStyles" Target="/ppt/tableStyles.xml" Id="Ra46b66823eb44642" /><Relationship Type="http://schemas.openxmlformats.org/officeDocument/2006/relationships/slide" Target="/ppt/slides/slide1.xml" Id="R58ced515f4ec45d3" /><Relationship Type="http://schemas.openxmlformats.org/officeDocument/2006/relationships/slide" Target="/ppt/slides/slide2.xml" Id="R5e2af0d33f1d473b" /><Relationship Type="http://schemas.openxmlformats.org/officeDocument/2006/relationships/slide" Target="/ppt/slides/slide3.xml" Id="R763c182cb3d84ea9" /><Relationship Type="http://schemas.openxmlformats.org/officeDocument/2006/relationships/slide" Target="/ppt/slides/slide4.xml" Id="Rccce36f65b4b465f" /><Relationship Type="http://schemas.openxmlformats.org/officeDocument/2006/relationships/slide" Target="/ppt/slides/slide5.xml" Id="R7382199e69764412" /><Relationship Type="http://schemas.openxmlformats.org/officeDocument/2006/relationships/slide" Target="/ppt/slides/slide6.xml" Id="R4386796bac704c6f" /><Relationship Type="http://schemas.openxmlformats.org/officeDocument/2006/relationships/slide" Target="/ppt/slides/slide7.xml" Id="Rf6457d0c117c4c4b" /><Relationship Type="http://schemas.openxmlformats.org/officeDocument/2006/relationships/slide" Target="/ppt/slides/slide8.xml" Id="R3dddb70bb959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389432c58b46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b08bb4fcfd4e40" /><Relationship Type="http://schemas.openxmlformats.org/officeDocument/2006/relationships/notesMaster" Target="/ppt/notesMasters/notesMaster1.xml" Id="R3288d1e8a95745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327a3ec5b418b" /><Relationship Type="http://schemas.openxmlformats.org/officeDocument/2006/relationships/notesMaster" Target="/ppt/notesMasters/notesMaster1.xml" Id="Rb01654cf98fa4a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af2a392204027" /><Relationship Type="http://schemas.openxmlformats.org/officeDocument/2006/relationships/notesMaster" Target="/ppt/notesMasters/notesMaster1.xml" Id="R6b3951e1d32147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e5f6a332e4415a" /><Relationship Type="http://schemas.openxmlformats.org/officeDocument/2006/relationships/notesMaster" Target="/ppt/notesMasters/notesMaster1.xml" Id="R17eb5bece3c840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8208d1b804bc4" /><Relationship Type="http://schemas.openxmlformats.org/officeDocument/2006/relationships/notesMaster" Target="/ppt/notesMasters/notesMaster1.xml" Id="R424ffea4ee8d4e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3cef12382f4c9c" /><Relationship Type="http://schemas.openxmlformats.org/officeDocument/2006/relationships/notesMaster" Target="/ppt/notesMasters/notesMaster1.xml" Id="R850c4cfa6b3b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c1710911648cb" /><Relationship Type="http://schemas.openxmlformats.org/officeDocument/2006/relationships/notesMaster" Target="/ppt/notesMasters/notesMaster1.xml" Id="R5bacdbea89f541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632a4e222471f" /><Relationship Type="http://schemas.openxmlformats.org/officeDocument/2006/relationships/notesMaster" Target="/ppt/notesMasters/notesMaster1.xml" Id="Reec40b9339ac44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API_CONTRACT.md. This opening frames the implementation problem and selected stack.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the provided technical-test requirements, README.md, and API_CONTRACT.md.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 section and DESIGN_DECISIONS.md. All architecture nodes and connectors are editable slide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live FastAPI /openapi.json, API_CONTRACT.md, database/models.py, and the Alembic migration.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mqtt/client.py, services/device_service.py, schemas/device_sch.py, and 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services/health_service.py, core/exceptions.py, schemas/error_sch.py, and API_CONTRACT.md.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pytest output and the manual Docker Compose integration run documented in README.md. Database values shown were persisted during the reviewer-style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DESIGN_DECISIONS.md and README.md. Future improvements are explicitly out of the current test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cb127300c40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3f482d56e45c3" /><Relationship Type="http://schemas.openxmlformats.org/officeDocument/2006/relationships/slideLayout" Target="/ppt/slideLayouts/slideLayout1.xml" Id="R3fbba7b8a24642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ba7b8a24642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0baaf20564f15" /><Relationship Type="http://schemas.openxmlformats.org/officeDocument/2006/relationships/notesSlide" Target="/ppt/notesSlides/notesSlide1.xml" Id="R647046e79138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b53fbacd94137" /><Relationship Type="http://schemas.openxmlformats.org/officeDocument/2006/relationships/notesSlide" Target="/ppt/notesSlides/notesSlide2.xml" Id="R5fb6a50a50fc4b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3d64a55ba46dd" /><Relationship Type="http://schemas.openxmlformats.org/officeDocument/2006/relationships/notesSlide" Target="/ppt/notesSlides/notesSlide3.xml" Id="R4b0cbaa43bd5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4838abb794689" /><Relationship Type="http://schemas.openxmlformats.org/officeDocument/2006/relationships/image" Target="/ppt/media/image.png" Id="R5b2952d6038243b6" /><Relationship Type="http://schemas.openxmlformats.org/officeDocument/2006/relationships/notesSlide" Target="/ppt/notesSlides/notesSlide4.xml" Id="Rbaf81f477c8448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b23faa56c4e0e" /><Relationship Type="http://schemas.openxmlformats.org/officeDocument/2006/relationships/notesSlide" Target="/ppt/notesSlides/notesSlide5.xml" Id="R85dab1825cc54b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3f3a5bc554c8b" /><Relationship Type="http://schemas.openxmlformats.org/officeDocument/2006/relationships/notesSlide" Target="/ppt/notesSlides/notesSlide6.xml" Id="R34caf3159a3248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e64c3294c4e4f" /><Relationship Type="http://schemas.openxmlformats.org/officeDocument/2006/relationships/notesSlide" Target="/ppt/notesSlides/notesSlide7.xml" Id="R226cb9ba922743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adc60ab8742c1" /><Relationship Type="http://schemas.openxmlformats.org/officeDocument/2006/relationships/notesSlide" Target="/ppt/notesSlides/notesSlide8.xml" Id="R9b2fcc635e404c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DB602-2506-41DF-A973-6F7AE06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D3727-04FB-4EED-A5DC-F114B050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TECHNICAL TEST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CA4B7-A9C0-43AB-94D6-8C3A74AA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Greenhouse IoT</a:t>
            </a:r>
          </a:p>
          <a:p xmlns:a="http://schemas.openxmlformats.org/drawingml/2006/main">
            <a:pPr algn="l">
              <a:defRPr sz="49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CC06C-9BB9-43F7-8CD0-5C4EC24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Reliable sensor ingestion and acknowledged device control through one production-oriented backend.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3AB13-BCA1-47F5-83A7-E360EAE5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6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07128-0EB0-4FB6-A94B-EF7EEE50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1CD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1CDE8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B1514-4A87-4713-B831-005A5318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B5926-A739-45D1-81D6-F3E60530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76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761"/>
                </a:solidFill>
                <a:latin typeface="Aptos"/>
                <a:ea typeface="Aptos"/>
                <a:cs typeface="Aptos"/>
              </a:rPr>
              <a:t>Mosquitto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5C7EF-C925-4513-8C75-89EB46AE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Docker Compose + Pytest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8EED6-1FF8-4D92-9A41-D3105578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818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818C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D1E17-F886-4F63-9753-9BCCC83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1811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HTTP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8707D-3BCB-418D-9D64-6E9AC647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28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sensor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F3998-9745-48EB-9354-7F0E34D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6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D4FBC-E712-411D-B622-3874AC41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MQTT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CAB39-84F7-4CC4-921B-2621DBB7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device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99935-6861-448A-A3CA-FFA8380E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2430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9A256-703C-407B-8625-0BC3DFB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51CDE8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51CDE8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850F9-6AA4-4CBE-B767-567B57C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14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durable readings</a:t>
            </a:r>
          </a:p>
        </p:txBody>
      </p:sp>
    </p:spTree>
    <p:extLst>
      <p:ext uri="{BB962C8B-B14F-4D97-AF65-F5344CB8AC3E}">
        <p14:creationId xmlns:p14="http://schemas.microsoft.com/office/powerpoint/2010/main" val="1812803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D5F70-A15F-49F6-8CE2-F70D79F6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7D21F-DE2C-4198-8995-D538C75B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Three behaviors define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063DA-6866-4FD6-9DBC-1DC13AEA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The scope stays deliberately small and reviewable.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D5357-B9E7-4D4D-9C11-51A58E94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92226-27AE-42FC-A962-2D9CFEA0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7B8C1-BCF2-43B5-9AAD-326D595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38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POST /sensor-data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ED386-2AD4-4EF0-A826-00BBCC83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3840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Validate the payload, preserve recorded_at, and persist the reading in PostgreSQL.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9D7D5-5AEB-4884-8C39-04C0C62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0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7B8C8-BAED-4462-A752-13C4AC9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1CDE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1CD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F5A00-F62F-4DCB-839B-9D642FF7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POST /device-control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4B26E-F348-48E5-A5EA-D3E36D6E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385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Accept device_id plus ON/OFF and publish a structured command through MQTT QoS 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3917B-5171-4F8B-8D68-031FC189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672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81E20-6455-45BD-94B7-AC5EAB60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76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B76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2FC77-ADF9-40A1-9636-F17058B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386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GET /status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368D7-B591-4235-9005-7570659F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Probe the backend, SELECT 1 against PostgreSQL, and report the live MQTT connection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41094-4C02-4BFB-B402-6068C9A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A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7A48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762FC-0B50-4E64-80BC-37503666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816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32C"/>
                </a:solidFill>
                <a:latin typeface="Aptos"/>
                <a:ea typeface="Aptos"/>
                <a:cs typeface="Aptos"/>
              </a:rPr>
              <a:t>Source code  ·  README  ·  Design explanation  ·  Presentation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B48DE-7CA6-4BB3-839E-D833BB1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E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9E96"/>
                </a:solidFill>
                <a:latin typeface="Aptos"/>
                <a:ea typeface="Aptos"/>
                <a:cs typeface="Aptos"/>
              </a:rPr>
              <a:t>GREENHOUSE IOT BACKEND  /  02</a:t>
            </a:r>
          </a:p>
        </p:txBody>
      </p:sp>
    </p:spTree>
    <p:extLst>
      <p:ext uri="{BB962C8B-B14F-4D97-AF65-F5344CB8AC3E}">
        <p14:creationId xmlns:p14="http://schemas.microsoft.com/office/powerpoint/2010/main" val="1240724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40AA6A-9025-4969-B6BC-DFD778C8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D8AF5-21BE-4CCF-A537-94B5BD92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One backend, two transport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DDB55-4527-484E-8AEE-EC440E25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HTTP handles sensor ingestion. MQTT handles device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889D7-E8FA-45CE-B0DF-B7A5A0E2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3C50-9A3A-448C-ABB9-A1616898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714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2303C"/>
          </a:solidFill>
          <a:ln xmlns:a="http://schemas.openxmlformats.org/drawingml/2006/main" w="9525">
            <a:solidFill>
              <a:srgbClr val="2946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980E3-5754-488D-9880-13D843D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IoT /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C2049-5D6B-4087-9895-FE4198E3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23812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74152"/>
          </a:solidFill>
          <a:ln xmlns:a="http://schemas.openxmlformats.org/drawingml/2006/main" w="19050">
            <a:solidFill>
              <a:srgbClr val="51C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DE037-B9D4-4D63-8132-2FDE380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F859F-152D-49B3-AAAA-8E27A73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81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validation · services</a:t>
            </a:r>
          </a:p>
          <a:p xmlns:a="http://schemas.openxmlformats.org/drawingml/2006/main">
            <a:pPr algn="ctr">
              <a:defRPr sz="12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repositories · 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A60A9-3A5A-4387-B963-C12C35CF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2860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73A2A"/>
          </a:solidFill>
          <a:ln xmlns:a="http://schemas.openxmlformats.org/drawingml/2006/main" w="19050">
            <a:solidFill>
              <a:srgbClr val="69D4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E022E-B679-4176-9F8E-3A18B3E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80F81-0ED9-4A53-B440-56BCA160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22860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4B351F"/>
          </a:solidFill>
          <a:ln xmlns:a="http://schemas.openxmlformats.org/drawingml/2006/main" w="19050">
            <a:solidFill>
              <a:srgbClr val="FFB7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222DB-D4B6-4BC8-B1E0-FDD41229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338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Mosquitto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4641B-8D63-4B12-B3C6-F9DC6E71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38550"/>
            <a:ext cx="11430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2303C"/>
          </a:solidFill>
          <a:ln xmlns:a="http://schemas.openxmlformats.org/drawingml/2006/main" w="9525">
            <a:solidFill>
              <a:srgbClr val="2946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9C2F0-13B2-4A9E-92E1-CD47803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62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24100" y="31242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1CDE8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057900" y="2533650"/>
            <a:ext cx="1809750" cy="590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9D485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57900" y="3124200"/>
            <a:ext cx="180975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FB761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53650" y="4133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761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5A96E-07E5-44C4-8CF9-B69B7C4D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1CD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1CDE8"/>
                </a:solidFill>
                <a:latin typeface="Aptos"/>
                <a:ea typeface="Aptos"/>
                <a:cs typeface="Aptos"/>
              </a:rPr>
              <a:t>HTTP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346BF-389C-41A9-A5F8-E05B3E04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SQLAlchemy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DF034-0346-43B8-A4EA-427971DF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7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761"/>
                </a:solidFill>
                <a:latin typeface="Aptos"/>
                <a:ea typeface="Aptos"/>
                <a:cs typeface="Aptos"/>
              </a:rPr>
              <a:t>MQTT QoS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0538F-434D-4E87-8F9A-C5A3439B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744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DB6289-EE1A-4E30-BB32-4054BF2C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Requirement 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DA97C-C7B2-4F33-8DC7-AA622B7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530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The implementation contract explicitly makes /sensor-data an HTTP endpoint, while MQTT is reserved for outbound device commands.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424EA-3B2F-4E72-AB94-F22333D9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81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818C"/>
                </a:solidFill>
                <a:latin typeface="Aptos"/>
                <a:ea typeface="Aptos"/>
                <a:cs typeface="Aptos"/>
              </a:rPr>
              <a:t>GREENHOUSE IOT BACKEND  /  03</a:t>
            </a:r>
          </a:p>
        </p:txBody>
      </p:sp>
    </p:spTree>
    <p:extLst>
      <p:ext uri="{BB962C8B-B14F-4D97-AF65-F5344CB8AC3E}">
        <p14:creationId xmlns:p14="http://schemas.microsoft.com/office/powerpoint/2010/main" val="1408634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22960-63A7-4F46-87C4-0C74A90C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DAF2-3CE4-4F9E-AB61-04C1E04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The contract is explicit before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9BE46-3763-4250-8F75-F81F0A10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OpenAPI reflects the same request, response, and validation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B6FAA-9ABB-45C6-82CE-7AEED2B0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952d6038243b6"/>
          <a:srcRect xmlns:a="http://schemas.openxmlformats.org/drawingml/2006/main" l="0" t="14328" r="0" b="1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000250"/>
            <a:ext cx="5810250" cy="2590800"/>
          </a:xfrm>
          <a:prstGeom xmlns:a="http://schemas.openxmlformats.org/drawingml/2006/main" prst="roundRect">
            <a:avLst>
              <a:gd name="adj" fmla="val 66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5D914-1642-4113-8EEB-3A7DED91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8097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2F2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7A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7A48"/>
                </a:solidFill>
                <a:latin typeface="Aptos"/>
                <a:ea typeface="Aptos"/>
                <a:cs typeface="Aptos"/>
              </a:rPr>
              <a:t>Live /openapi.json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195D3-E34A-4CF6-AF65-2B60D2C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9D48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62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73CB3-E25F-4449-8DE9-D7572AFA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/sensor-data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E2B05-2860-441A-BBC3-A459B6C3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Validate and persist a reading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1DE75-B637-41B5-816A-9F2A89C8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956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1CD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620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78304-1FB1-474C-BF51-262511E3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/device-control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439A0-2449-40B3-8484-66065E4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Validate and publish a 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1D93A-D174-4717-A550-FD3FE95E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9095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B7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6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620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8DD37-A1B0-45FA-8F10-DC2E9BB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/status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DFFED-C126-4581-87A1-74A7FD86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Probe live dependencies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D90AE-6F57-4BA0-BFCD-D171B5F6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sensor_readings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CFA5F-6953-4AF5-B29E-C2EEE0DB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108F0-69E3-4E78-923C-99A2C9A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71FA6-5BD5-4654-BAAC-CB8D07D1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PK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BBC8D-5D9B-482D-B51D-DE18681C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05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device_id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F839C-57D7-49EF-B535-828FA046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816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8AEC3-8C32-455C-ADC0-928E6406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05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5BD3A-F085-4844-8467-9377EDE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816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numeric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F912D-9D17-4B3A-A85A-92A5614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05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humidity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C9288-B657-4908-92D2-435EB541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816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0–100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52582-A2A3-4DE2-A781-A835695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05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7A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7A48"/>
                </a:solidFill>
                <a:latin typeface="Aptos"/>
                <a:ea typeface="Aptos"/>
                <a:cs typeface="Aptos"/>
              </a:rPr>
              <a:t>recorded_at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EFF72-968A-4CC0-A84E-1F725DA1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816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sensor 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931B20-E7C0-4924-B4E5-F791121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05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created_at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56666-27FE-4FB3-AA34-CAAD668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816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backend 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6BA099-2A9F-4E8B-A18E-50B20E5E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7A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7A48"/>
                </a:solidFill>
                <a:latin typeface="Aptos"/>
                <a:ea typeface="Aptos"/>
                <a:cs typeface="Aptos"/>
              </a:rPr>
              <a:t>Separating recorded_at from created_at preserves network-delay context.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897675-A31F-4D71-93DD-03DCC7C9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E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9E96"/>
                </a:solidFill>
                <a:latin typeface="Aptos"/>
                <a:ea typeface="Aptos"/>
                <a:cs typeface="Aptos"/>
              </a:rPr>
              <a:t>GREENHOUSE IOT BACKEND  /  04</a:t>
            </a:r>
          </a:p>
        </p:txBody>
      </p:sp>
    </p:spTree>
    <p:extLst>
      <p:ext uri="{BB962C8B-B14F-4D97-AF65-F5344CB8AC3E}">
        <p14:creationId xmlns:p14="http://schemas.microsoft.com/office/powerpoint/2010/main" val="2014730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0549F-7D11-4844-A4B7-900A0CE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87093-9EB7-41C0-86D5-C92C4BAE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Persistent MQTT keeps commands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226B7-7526-4E87-BF69-CE0636CA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The HTTP request returns only after publish acceptance is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0B86C-B4EE-411B-9789-104466F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344B6-5E2C-4E51-8C5E-54DDF780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18669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303C"/>
          </a:solidFill>
          <a:ln xmlns:a="http://schemas.openxmlformats.org/drawingml/2006/main" w="19050">
            <a:solidFill>
              <a:srgbClr val="51C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D44C6-2B7A-4EBD-BF3C-223E05DE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HTTP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620D9-6FF1-43CE-9F2F-8261C81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device_id + ON/OFF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A46B9-6827-4382-9DCE-4F94A34C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18669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303C"/>
          </a:solidFill>
          <a:ln xmlns:a="http://schemas.openxmlformats.org/drawingml/2006/main" w="19050">
            <a:solidFill>
              <a:srgbClr val="69D4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D0C81-3AB7-4743-A481-DA2B70F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74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DeviceService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37474-18B5-457A-8403-E2628BB0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builds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64093-7AD2-427B-BED0-515F158D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8669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303C"/>
          </a:solidFill>
          <a:ln xmlns:a="http://schemas.openxmlformats.org/drawingml/2006/main" w="19050">
            <a:solidFill>
              <a:srgbClr val="69D4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BD97F-3E45-40E8-8D64-61E02DB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MQTT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33A07-D9F7-4ACE-A30D-7C31E708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lifecycle-owned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B490A-2775-48A3-991A-826B6E27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18669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303C"/>
          </a:solidFill>
          <a:ln xmlns:a="http://schemas.openxmlformats.org/drawingml/2006/main" w="19050">
            <a:solidFill>
              <a:srgbClr val="FFB7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CBACB-136D-4770-AF95-3A315574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Mosquitto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9D71D-AEDF-4EC4-A64C-AE66652E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broker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FB7E8-61B7-4907-86FB-D2EB539E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47900"/>
            <a:ext cx="18669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303C"/>
          </a:solidFill>
          <a:ln xmlns:a="http://schemas.openxmlformats.org/drawingml/2006/main" w="19050">
            <a:solidFill>
              <a:srgbClr val="FFB7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22FC0-0B37-4374-89DE-BAC2079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5745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D0E45-E2A4-484E-A6E6-39ED24CA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subscribed topic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9D485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9D485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2945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761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353550" y="28098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761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9727A-8256-45F3-A63A-455699EB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Topic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85FFB-F50B-4EFF-B8B4-A5A2C34F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greenhouse/control/{device_id}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5B2D9-0020-4959-A5E9-84780E64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1CD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1CDE8"/>
                </a:solidFill>
                <a:latin typeface="Aptos"/>
                <a:ea typeface="Aptos"/>
                <a:cs typeface="Aptos"/>
              </a:rPr>
              <a:t>Payload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B7D6B-E2FC-43B9-A764-1065A901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6096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D6D244-4A38-4F4A-800A-24BC499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{ "device_id": "fan-001", "command": "ON",</a:t>
            </a:r>
          </a:p>
          <a:p xmlns:a="http://schemas.openxmlformats.org/drawingml/2006/main">
            <a:pPr algn="l">
              <a:defRPr sz="135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  "timestamp": "2026-09-19T10:35:00Z" 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C6B08C-76DE-4808-8BAE-BA33485D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38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76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761"/>
                </a:solidFill>
                <a:latin typeface="Aptos"/>
                <a:ea typeface="Aptos"/>
                <a:cs typeface="Aptos"/>
              </a:rPr>
              <a:t>Why QoS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4BFD5-FB6B-4A52-8CE9-B0738C48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76750"/>
            <a:ext cx="3619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Broker acknowledgement matters more for control commands than for best-effort telemetry. QoS 1 gives at-least-once delivery, so devices should treat commands idempotently.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F410A2-5BD7-4B53-B55F-A11452BC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81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818C"/>
                </a:solidFill>
                <a:latin typeface="Aptos"/>
                <a:ea typeface="Aptos"/>
                <a:cs typeface="Aptos"/>
              </a:rPr>
              <a:t>GREENHOUSE IOT BACKEND  /  05</a:t>
            </a:r>
          </a:p>
        </p:txBody>
      </p:sp>
    </p:spTree>
    <p:extLst>
      <p:ext uri="{BB962C8B-B14F-4D97-AF65-F5344CB8AC3E}">
        <p14:creationId xmlns:p14="http://schemas.microsoft.com/office/powerpoint/2010/main" val="124113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D4684-7C09-463A-9C56-9F376501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9A4AA-F0E5-41A9-BE0D-F7FBE893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Health is derived from real dependency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32680-40C3-4214-A6B4-7A0115AF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Failures are visible without exposing credentials or stack traces.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CA316-DB41-432C-9D3C-2CC5F2D9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0A716-05CA-4B8E-9AF3-EBDAE58E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7A4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7A48"/>
                </a:solidFill>
                <a:latin typeface="Aptos"/>
                <a:ea typeface="Aptos"/>
                <a:cs typeface="Aptos"/>
              </a:rPr>
              <a:t>HEALTHY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B6C20-B288-44FC-A15B-6C635F8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backend 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33F3F-EF07-4620-BE34-97C8D571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database  connected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DC6F3-57D1-4E40-BB98-E7487B98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mqtt  connected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4E15B-697C-4250-8770-E9E14DFD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BF83A-56DD-4D68-B9CE-3A8B691D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27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7272"/>
                </a:solidFill>
                <a:latin typeface="Aptos"/>
                <a:ea typeface="Aptos"/>
                <a:cs typeface="Aptos"/>
              </a:rPr>
              <a:t>DEGRADED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F3CFA-A804-4626-9458-359142AA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Any failed DB query or disconnected MQTT client changes the aggregate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B8871-A8E6-4896-AE74-81C0841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14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SELECT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49D99-DF1B-4403-8D81-C3C84124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95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+ live client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FF1C4-A702-4EA2-87CA-DAC5C51D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38350"/>
            <a:ext cx="6096000" cy="37528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07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A1290-8188-4B31-86BC-BCFAC00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431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Consistent error envelope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30A22-6791-475A-B754-3F52307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57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6BDD8-F423-4646-8765-824E5CB8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  "success": false,</a:t>
            </a:r>
          </a:p>
          <a:p xmlns:a="http://schemas.openxmlformats.org/drawingml/2006/main">
            <a:pPr algn="l">
              <a:defRPr sz="157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  "error": {</a:t>
            </a:r>
          </a:p>
          <a:p xmlns:a="http://schemas.openxmlformats.org/drawingml/2006/main">
            <a:pPr algn="l">
              <a:defRPr sz="157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    "code": "MQTT_UNAVAILABLE",</a:t>
            </a:r>
          </a:p>
          <a:p xmlns:a="http://schemas.openxmlformats.org/drawingml/2006/main">
            <a:pPr algn="l">
              <a:defRPr sz="157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    "message": "MQTT broker is unavailable"</a:t>
            </a:r>
          </a:p>
          <a:p xmlns:a="http://schemas.openxmlformats.org/drawingml/2006/main">
            <a:pPr algn="l">
              <a:defRPr sz="157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 algn="l">
              <a:defRPr sz="1575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D07DD-7BBD-4823-B792-061CCEA6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38750"/>
            <a:ext cx="527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Malformed JSON, validation failures, database outages, and broker outages follow the same external structure. Internal detail stays in logs.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6626F-FDDD-4050-A878-A9067875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E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9E96"/>
                </a:solidFill>
                <a:latin typeface="Aptos"/>
                <a:ea typeface="Aptos"/>
                <a:cs typeface="Aptos"/>
              </a:rPr>
              <a:t>GREENHOUSE IOT BACKEND  /  06</a:t>
            </a:r>
          </a:p>
        </p:txBody>
      </p:sp>
    </p:spTree>
    <p:extLst>
      <p:ext uri="{BB962C8B-B14F-4D97-AF65-F5344CB8AC3E}">
        <p14:creationId xmlns:p14="http://schemas.microsoft.com/office/powerpoint/2010/main" val="1118936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D9039-082B-485C-B138-E70ACFD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5AA0A-8B9B-4B53-BDC2-4E6E915E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Testing proves the critical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61463-644F-47D1-A279-797AC74D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Automated tests are paired with manual reviewer-style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80B06-6B3C-4963-8CFD-72907434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BEEFB-58B5-46A2-AD84-B68E66E7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C58CF-4841-4693-906C-A7F4113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28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/ 21 tests passing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F0F26-C97D-45C5-AC87-DEDE727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Sensor validation · command validation · MQTT failure · healthy/degraded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5906B-AB24-4219-9E31-EE295937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43100"/>
            <a:ext cx="5562600" cy="1828800"/>
          </a:xfrm>
          <a:prstGeom xmlns:a="http://schemas.openxmlformats.org/drawingml/2006/main" prst="roundRect">
            <a:avLst>
              <a:gd name="adj" fmla="val 7292"/>
            </a:avLst>
          </a:prstGeom>
          <a:solidFill xmlns:a="http://schemas.openxmlformats.org/drawingml/2006/main">
            <a:srgbClr val="0D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1F82D-0405-47B3-B08F-B3E38925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7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761"/>
                </a:solidFill>
                <a:latin typeface="Aptos"/>
                <a:ea typeface="Aptos"/>
                <a:cs typeface="Aptos"/>
              </a:rPr>
              <a:t>MQTT subscriber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F435F-C67F-4D79-AF79-788F012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527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$ mosquitto_sub -t greenhouse/control/# -v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greenhouse/control/fan-001</a:t>
            </a:r>
          </a:p>
          <a:p xmlns:a="http://schemas.openxmlformats.org/drawingml/2006/main">
            <a:pPr algn="l">
              <a:defRPr sz="135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{"device_id":"fan-001","command":"ON",...}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3D03C-706F-4713-BDF7-AC8060DE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0135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0D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5F6B9-75CB-4CAA-A8DE-EBEE6F4D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Database persistence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916ED-1A3A-486F-B31D-7BE0FFCE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AC1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E688A-8D1F-4FC7-9511-D4DA907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AC1"/>
                </a:solidFill>
                <a:latin typeface="Aptos"/>
                <a:ea typeface="Aptos"/>
                <a:cs typeface="Aptos"/>
              </a:rPr>
              <a:t>device_id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8BD3C-0A78-4174-A912-9702FFF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AC1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3063F-CCB8-4BE1-8642-BBD3BB86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AC1"/>
                </a:solidFill>
                <a:latin typeface="Aptos"/>
                <a:ea typeface="Aptos"/>
                <a:cs typeface="Aptos"/>
              </a:rPr>
              <a:t>humidity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E5284-54A8-4203-AD68-7682D60B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AC1"/>
                </a:solidFill>
                <a:latin typeface="Aptos"/>
                <a:ea typeface="Aptos"/>
                <a:cs typeface="Aptos"/>
              </a:rPr>
              <a:t>stored 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44879-742B-445D-8350-B50AF4FC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8998E-8DBC-4E06-ADD0-31E307B0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9D20C-BC9E-4A65-A7AF-C983AC03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reviewer-sensor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1F2E9-DD8E-4C4C-AF8F-086FF13E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29.4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06EBB-9059-4F33-A83A-8F6A39C0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8F6"/>
                </a:solidFill>
                <a:latin typeface="Aptos"/>
                <a:ea typeface="Aptos"/>
                <a:cs typeface="Aptos"/>
              </a:rPr>
              <a:t>62.8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7FD0F-E4D7-453A-958B-EAABC7D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14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D485"/>
                </a:solidFill>
                <a:latin typeface="Aptos"/>
                <a:ea typeface="Aptos"/>
                <a:cs typeface="Aptos"/>
              </a:rPr>
              <a:t>POST /sensor-data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9C186-77A4-48A4-B606-A116EEF2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24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A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AC1"/>
                </a:solidFill>
                <a:latin typeface="Aptos"/>
                <a:ea typeface="Aptos"/>
                <a:cs typeface="Aptos"/>
              </a:rPr>
              <a:t>Manual integration run retained separate recorded_at and created_at values.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0B1E5-FF47-452E-9DDB-D23AD894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81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818C"/>
                </a:solidFill>
                <a:latin typeface="Aptos"/>
                <a:ea typeface="Aptos"/>
                <a:cs typeface="Aptos"/>
              </a:rPr>
              <a:t>GREENHOUSE IOT BACKEND  /  07</a:t>
            </a:r>
          </a:p>
        </p:txBody>
      </p:sp>
    </p:spTree>
    <p:extLst>
      <p:ext uri="{BB962C8B-B14F-4D97-AF65-F5344CB8AC3E}">
        <p14:creationId xmlns:p14="http://schemas.microsoft.com/office/powerpoint/2010/main" val="202437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FCA15-FA48-4C1B-B8DC-DAF8B755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4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4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FC935-9090-4FCD-BA76-B673DDF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Design choices keep the submission focused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F6FDB-58DF-48E2-A9CF-087F2157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Production expansion is possible without hiding today’s failure modes.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5BF25-35BB-4471-A10F-B90B258A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FDED1-A59C-4028-A99F-CDAEB84F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7A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7A48"/>
                </a:solidFill>
                <a:latin typeface="Aptos"/>
                <a:ea typeface="Aptos"/>
                <a:cs typeface="Aptos"/>
              </a:rPr>
              <a:t>Current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490A1-4925-4574-9D9C-6B1C5E45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7A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17A91"/>
                </a:solidFill>
                <a:latin typeface="Aptos"/>
                <a:ea typeface="Aptos"/>
                <a:cs typeface="Aptos"/>
              </a:rPr>
              <a:t>Future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CD29F-A7B6-4E26-8070-E9E2A95E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574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44158-8A9E-43E7-8B49-A124ADE4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634DE-C3F7-49EA-8E56-59FD1D6E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Typed validation and automatic OpenAPI with a small code surface.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CEB5F-6A6D-4749-9B91-8C85974E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PostgreSQL + Alembic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88319-AEBB-4D83-B0E6-73DE493C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Durable relational storage with explicit schema evolution.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4C69C-3D4A-4B0B-9A5D-A3E764A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Persistent MQTT + QoS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6FA9-223A-41E1-AFDC-90964F24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Lower request overhead and broker acknowledgement for commands.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CC489-FFA9-45EE-98AA-DD8238F9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Dependency-aware 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516E1-8ED5-479A-8DBD-350E07B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Partial failure is surfaced as degraded instead of masked.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611A8-737E-4E15-ABE1-81DF1EFC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96019-232C-4BDF-A396-706DF7B6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TLS, authentication, secret management, and per-device authorization.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9DA02-7FD6-4D73-8D7F-A363DFE0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E9100-1AAB-449D-A0CB-39AAF08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Metrics, tracing, structured log aggregation, and alert thresholds.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E19EF-D1CC-4152-BD71-AA8FDB00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AF556-A5E8-4691-90B1-90BB912B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Connection tuning, idempotency keys, and horizontal backend replicas.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11482-DBC7-4F04-AF3F-21F92D9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00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2C"/>
                </a:solidFill>
                <a:latin typeface="Aptos"/>
                <a:ea typeface="Aptos"/>
                <a:cs typeface="Aptos"/>
              </a:rPr>
              <a:t>Telemetry evolution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6476B-DB00-4D0A-B144-0DE3C6A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864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4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47D"/>
                </a:solidFill>
                <a:latin typeface="Aptos"/>
                <a:ea typeface="Aptos"/>
                <a:cs typeface="Aptos"/>
              </a:rPr>
              <a:t>Add inbound MQTT consumption only when product requirements demand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3A8F8-E8AF-4380-B0B5-1A7B8BC7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53DE4-74C8-4F62-8BFA-B7A6E9D1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7A48"/>
                </a:solidFill>
                <a:latin typeface="Aptos"/>
                <a:ea typeface="Aptos"/>
                <a:cs typeface="Aptos"/>
              </a:rPr>
              <a:t>Submission outcome: one command starts the stack, the API contract stays stable, and failures remain observable.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B329D-05A8-4180-944F-6A0BEE2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E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9E96"/>
                </a:solidFill>
                <a:latin typeface="Aptos"/>
                <a:ea typeface="Aptos"/>
                <a:cs typeface="Aptos"/>
              </a:rPr>
              <a:t>GREENHOUSE IOT BACKEND  /  08</a:t>
            </a:r>
          </a:p>
        </p:txBody>
      </p:sp>
    </p:spTree>
    <p:extLst>
      <p:ext uri="{BB962C8B-B14F-4D97-AF65-F5344CB8AC3E}">
        <p14:creationId xmlns:p14="http://schemas.microsoft.com/office/powerpoint/2010/main" val="1433742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2026-09-20T03:45:57.2580000Z</dcterms:created>
  <dcterms:modified xsi:type="dcterms:W3CDTF">2026-09-20T03:45:57.2580000Z</dcterms:modified>
</coreProperties>
</file>